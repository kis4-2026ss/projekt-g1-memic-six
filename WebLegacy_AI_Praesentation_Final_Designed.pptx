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17" autoAdjust="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34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Hallo zusammen! Willkommen zum großen Update-Vortrag über unser Projekt 'WebLegacy AI'. In den nächsten 18 Minuten möchten wir euch zeigen, wie wir unsere Migration-Engine auf ein völlig neues Level gehoben haben.</a:t>
            </a:r>
          </a:p>
          <a:p>
            <a:endParaRPr/>
          </a:p>
          <a:p>
            <a:r>
              <a:t>Unser ursprüngliches Ziel war es, PHP-Monolithen in C# zu transformieren. In der Praxis haben wir jedoch gelernt, dass eine bloße Syntax-Übersetzung extrem fehleranfällig ist, wenn die Datenbank-Schemata und die strengen Compiler-Regeln von C# nicht berücksichtigt werden.</a:t>
            </a:r>
          </a:p>
          <a:p>
            <a:endParaRPr/>
          </a:p>
          <a:p>
            <a:r>
              <a:t>Deshalb haben wir in diesem Update zwei massive neue Features integriert: Erstens ein echtes 'Target SQL Database Schema Mapping' – das heißt, wir können der Engine das exakte Zieldatenbank-Schema übergeben. Zweitens haben wir ein Regelwerk für 'Compiler-proof C#' implementiert. Damit überwinden wir typische C#-Kompilierfehler wie fehlende Namespace-Usings bei Transaktionen oder Nullable-Warnungen.</a:t>
            </a:r>
          </a:p>
          <a:p>
            <a:endParaRPr/>
          </a:p>
          <a:p>
            <a:r>
              <a:t>Wir führen euch jetzt durch diese neuen Hürden und zeigen euch im Detail, wie wir sie mit Gemini gelöst haben!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Lasst uns mit dem Kernproblem anfangen, das wir alle aus dem Entwickleralltag kennen: Dem 'Legacy-Dilemma'. Viele Webseiten und Systeme weltweit laufen immer noch auf alten PHP-Versionen.</a:t>
            </a:r>
          </a:p>
          <a:p>
            <a:endParaRPr/>
          </a:p>
          <a:p>
            <a:r>
              <a:t>Und das bringt massive Hürden mit sich. Als erstes haben wir da den Spaghetti-Code. Im PHP der alten Schule war es völlig normal, HTML-Elemente für die Anzeige, Berechnungslogik und Datenbankabfragen direkt in eine einzige Datei zu werfen.</a:t>
            </a:r>
          </a:p>
          <a:p>
            <a:endParaRPr/>
          </a:p>
          <a:p>
            <a:r>
              <a:t>Für einen jungen Entwickler, der das heute warten soll, ist das ein Albtraum. Man blickt einfach nicht durch, wo die Logik endet und das Design anfängt.</a:t>
            </a:r>
          </a:p>
          <a:p>
            <a:endParaRPr/>
          </a:p>
          <a:p>
            <a:r>
              <a:t>Zudem hat altes PHP standardmäßig keine Typensicherheit. Wenn eine Variable '$result' verwendet wird, weiß man nie genau, ob es ein DB-Objekt, ein Array oder ein Boolean ist. Fehler fliegen uns also erst direkt beim Kunden zur Laufzeit um die Ohren.</a:t>
            </a:r>
          </a:p>
          <a:p>
            <a:endParaRPr/>
          </a:p>
          <a:p>
            <a:r>
              <a:t>Ein weiteres großes Sicherheitsrisiko sind rohe SQL-Abfragen, die oft direkt per String-Verknüpfung zusammengesetzt werden. Das ist eine Einladung für SQL-Injections, vor denen uns moderne C#-Frameworks mit ihren standardmäßig parametrisierten ORMs sofort schützen.</a:t>
            </a:r>
          </a:p>
          <a:p>
            <a:endParaRPr/>
          </a:p>
          <a:p>
            <a:r>
              <a:t>Und all diese Punkte führen direkt in die Wartungs-Hölle. Man ändert eine Codezeile links oben und plötzlich bricht das System rechts unten zusammen. Das wollen wir beheben!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Kommen wir zu unserer grundlegenden Philosophie für dieses Projekt.</a:t>
            </a:r>
          </a:p>
          <a:p>
            <a:endParaRPr/>
          </a:p>
          <a:p>
            <a:r>
              <a:t>Es gibt da eine ganz wichtige Erkenntnis: 'Wer Spaghetti-PHP-Code einfach 1:1 übersetzt, hat am Ende nichts gewonnen – man hat dann nur C#-Spaghetti!' Das wollten wir verhindern.</a:t>
            </a:r>
          </a:p>
          <a:p>
            <a:endParaRPr/>
          </a:p>
          <a:p>
            <a:r>
              <a:t>Und hier kommt unser erstes großes Update-Feature ins Spiel: Das 'Target SQL Database Schema Mapping'. Häufig greift alter PHP-Code wild auf eine Datenbank zu, ohne dass klar ist, welche Fremdschlüssel und Einschränkungen eigentlich existieren.</a:t>
            </a:r>
          </a:p>
          <a:p>
            <a:endParaRPr/>
          </a:p>
          <a:p>
            <a:r>
              <a:t>Mit unserem neuen Parameter `--schema-sql` können wir nun die exakte SQL-Definition der Zieldatenbank mitgeben. Die KI versteht dadurch sofort: 'Aha, die Tabelle 'Guests' hat diese Spalten und Beziehungen'. Sie generiert dann C#-Modelle und Entity Framework Core-Klassen, die sich zu 100% präzise an dieses Schema halten.</a:t>
            </a:r>
          </a:p>
          <a:p>
            <a:endParaRPr/>
          </a:p>
          <a:p>
            <a:r>
              <a:t>Daraus bauen wir das saubere Dreischicht-Architekturmuster auf: API-Controller empfangen HTTP-Requests, Services verarbeiten die Geschäftslogik und Repositories wickeln den Datenzugriff über das Entity Framework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Sprecher: Aldin &amp; Amadin | Dauer: ca. 2.5 - 3 Minuten</a:t>
            </a:r>
          </a:p>
          <a:p>
            <a:endParaRPr dirty="0"/>
          </a:p>
          <a:p>
            <a:r>
              <a:rPr dirty="0"/>
              <a:t>=== SPRECHTEXT ===</a:t>
            </a:r>
          </a:p>
          <a:p>
            <a:endParaRPr dirty="0"/>
          </a:p>
          <a:p>
            <a:r>
              <a:rPr dirty="0"/>
              <a:t>Wie </a:t>
            </a:r>
            <a:r>
              <a:rPr dirty="0" err="1"/>
              <a:t>läuft</a:t>
            </a:r>
            <a:r>
              <a:rPr dirty="0"/>
              <a:t> </a:t>
            </a:r>
            <a:r>
              <a:rPr dirty="0" err="1"/>
              <a:t>dieser</a:t>
            </a:r>
            <a:r>
              <a:rPr dirty="0"/>
              <a:t> Migrations-</a:t>
            </a:r>
            <a:r>
              <a:rPr dirty="0" err="1"/>
              <a:t>Prozess</a:t>
            </a:r>
            <a:r>
              <a:rPr dirty="0"/>
              <a:t> nun </a:t>
            </a:r>
            <a:r>
              <a:rPr dirty="0" err="1"/>
              <a:t>konkret</a:t>
            </a:r>
            <a:r>
              <a:rPr dirty="0"/>
              <a:t> in </a:t>
            </a:r>
            <a:r>
              <a:rPr dirty="0" err="1"/>
              <a:t>unserem</a:t>
            </a:r>
            <a:r>
              <a:rPr dirty="0"/>
              <a:t> </a:t>
            </a:r>
            <a:r>
              <a:rPr dirty="0" err="1"/>
              <a:t>modernisierten</a:t>
            </a:r>
            <a:r>
              <a:rPr dirty="0"/>
              <a:t> Tool ab? 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sauberen</a:t>
            </a:r>
            <a:r>
              <a:rPr dirty="0"/>
              <a:t>, </a:t>
            </a:r>
            <a:r>
              <a:rPr dirty="0" err="1"/>
              <a:t>dreistufigen</a:t>
            </a:r>
            <a:r>
              <a:rPr dirty="0"/>
              <a:t> </a:t>
            </a:r>
            <a:r>
              <a:rPr dirty="0" err="1"/>
              <a:t>Ablauf</a:t>
            </a:r>
            <a:r>
              <a:rPr dirty="0"/>
              <a:t> </a:t>
            </a:r>
            <a:r>
              <a:rPr dirty="0" err="1"/>
              <a:t>programmiert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 Schritt 1, der </a:t>
            </a:r>
            <a:r>
              <a:rPr dirty="0" err="1"/>
              <a:t>Analyse</a:t>
            </a:r>
            <a:r>
              <a:rPr dirty="0"/>
              <a:t>, </a:t>
            </a:r>
            <a:r>
              <a:rPr dirty="0" err="1"/>
              <a:t>liest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Python-App die PHP-</a:t>
            </a:r>
            <a:r>
              <a:rPr dirty="0" err="1"/>
              <a:t>Monolithen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und </a:t>
            </a:r>
            <a:r>
              <a:rPr dirty="0" err="1"/>
              <a:t>sendet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an Gemini. Gemini </a:t>
            </a:r>
            <a:r>
              <a:rPr dirty="0" err="1"/>
              <a:t>extrahiert</a:t>
            </a:r>
            <a:r>
              <a:rPr dirty="0"/>
              <a:t> die </a:t>
            </a:r>
            <a:r>
              <a:rPr dirty="0" err="1"/>
              <a:t>Geschäftsregeln</a:t>
            </a:r>
            <a:r>
              <a:rPr dirty="0"/>
              <a:t> und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strukturiertes</a:t>
            </a:r>
            <a:r>
              <a:rPr dirty="0"/>
              <a:t> JSON </a:t>
            </a:r>
            <a:r>
              <a:rPr dirty="0" err="1"/>
              <a:t>zurück</a:t>
            </a:r>
            <a:r>
              <a:rPr dirty="0"/>
              <a:t>: '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Eingaben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erwartet</a:t>
            </a:r>
            <a:r>
              <a:rPr dirty="0"/>
              <a:t>,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Ausgaben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 und </a:t>
            </a:r>
            <a:r>
              <a:rPr dirty="0" err="1"/>
              <a:t>welche</a:t>
            </a:r>
            <a:r>
              <a:rPr dirty="0"/>
              <a:t> Business-Rules </a:t>
            </a:r>
            <a:r>
              <a:rPr dirty="0" err="1"/>
              <a:t>gelten</a:t>
            </a:r>
            <a:r>
              <a:rPr dirty="0"/>
              <a:t>?'.</a:t>
            </a:r>
          </a:p>
          <a:p>
            <a:endParaRPr dirty="0"/>
          </a:p>
          <a:p>
            <a:r>
              <a:rPr dirty="0"/>
              <a:t>In Schritt 2, dem Mapping, </a:t>
            </a:r>
            <a:r>
              <a:rPr dirty="0" err="1"/>
              <a:t>bringen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ins Spiel! Wenn </a:t>
            </a:r>
            <a:r>
              <a:rPr dirty="0" err="1"/>
              <a:t>eine</a:t>
            </a:r>
            <a:r>
              <a:rPr dirty="0"/>
              <a:t> SQL-Schema-</a:t>
            </a:r>
            <a:r>
              <a:rPr dirty="0" err="1"/>
              <a:t>Datei</a:t>
            </a:r>
            <a:r>
              <a:rPr dirty="0"/>
              <a:t> </a:t>
            </a:r>
            <a:r>
              <a:rPr dirty="0" err="1"/>
              <a:t>übergeben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`--schema-</a:t>
            </a:r>
            <a:r>
              <a:rPr dirty="0" err="1"/>
              <a:t>sql</a:t>
            </a:r>
            <a:r>
              <a:rPr dirty="0"/>
              <a:t> </a:t>
            </a:r>
            <a:r>
              <a:rPr dirty="0" err="1"/>
              <a:t>target.sql</a:t>
            </a:r>
            <a:r>
              <a:rPr dirty="0"/>
              <a:t>`), </a:t>
            </a:r>
            <a:r>
              <a:rPr dirty="0" err="1"/>
              <a:t>gleicht</a:t>
            </a:r>
            <a:r>
              <a:rPr dirty="0"/>
              <a:t> das System die </a:t>
            </a:r>
            <a:r>
              <a:rPr dirty="0" err="1"/>
              <a:t>analysierten</a:t>
            </a:r>
            <a:r>
              <a:rPr dirty="0"/>
              <a:t> PHP-</a:t>
            </a:r>
            <a:r>
              <a:rPr dirty="0" err="1"/>
              <a:t>Zugriffe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Datenbankschema</a:t>
            </a:r>
            <a:r>
              <a:rPr dirty="0"/>
              <a:t> ab. </a:t>
            </a:r>
            <a:r>
              <a:rPr dirty="0" err="1"/>
              <a:t>Dadurch</a:t>
            </a:r>
            <a:r>
              <a:rPr dirty="0"/>
              <a:t> </a:t>
            </a:r>
            <a:r>
              <a:rPr dirty="0" err="1"/>
              <a:t>weiß</a:t>
            </a:r>
            <a:r>
              <a:rPr dirty="0"/>
              <a:t> die KI </a:t>
            </a:r>
            <a:r>
              <a:rPr dirty="0" err="1"/>
              <a:t>exakt</a:t>
            </a:r>
            <a:r>
              <a:rPr dirty="0"/>
              <a:t>,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Typen</a:t>
            </a:r>
            <a:r>
              <a:rPr dirty="0"/>
              <a:t> und </a:t>
            </a:r>
            <a:r>
              <a:rPr dirty="0" err="1"/>
              <a:t>Beziehungen</a:t>
            </a:r>
            <a:r>
              <a:rPr dirty="0"/>
              <a:t> in C# </a:t>
            </a:r>
            <a:r>
              <a:rPr dirty="0" err="1"/>
              <a:t>generiert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müssen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 Schritt 3, der </a:t>
            </a:r>
            <a:r>
              <a:rPr dirty="0" err="1"/>
              <a:t>Generierung</a:t>
            </a:r>
            <a:r>
              <a:rPr dirty="0"/>
              <a:t>, </a:t>
            </a:r>
            <a:r>
              <a:rPr dirty="0" err="1"/>
              <a:t>schreiben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C#-</a:t>
            </a:r>
            <a:r>
              <a:rPr dirty="0" err="1"/>
              <a:t>Dateien</a:t>
            </a:r>
            <a:r>
              <a:rPr dirty="0"/>
              <a:t>. Hier </a:t>
            </a:r>
            <a:r>
              <a:rPr dirty="0" err="1"/>
              <a:t>greifen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</a:t>
            </a:r>
            <a:r>
              <a:rPr dirty="0" err="1"/>
              <a:t>brandneuen</a:t>
            </a:r>
            <a:r>
              <a:rPr dirty="0"/>
              <a:t> 'Strict C#-Guidelines'. Die KI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gezwungen</a:t>
            </a:r>
            <a:r>
              <a:rPr dirty="0"/>
              <a:t>, alle Namespace-Usings </a:t>
            </a:r>
            <a:r>
              <a:rPr dirty="0" err="1"/>
              <a:t>einzufügen</a:t>
            </a:r>
            <a:r>
              <a:rPr dirty="0"/>
              <a:t>, Nullable Reference Types (`Task&lt;User?&gt;` </a:t>
            </a:r>
            <a:r>
              <a:rPr dirty="0" err="1"/>
              <a:t>statt</a:t>
            </a:r>
            <a:r>
              <a:rPr dirty="0"/>
              <a:t> `Task&lt;User&gt;`)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handhaben</a:t>
            </a:r>
            <a:r>
              <a:rPr dirty="0"/>
              <a:t>, um </a:t>
            </a:r>
            <a:r>
              <a:rPr dirty="0" err="1"/>
              <a:t>Compilerwarnungen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vermeiden</a:t>
            </a:r>
            <a:r>
              <a:rPr dirty="0"/>
              <a:t>, und </a:t>
            </a:r>
            <a:r>
              <a:rPr dirty="0" err="1"/>
              <a:t>konsistente</a:t>
            </a:r>
            <a:r>
              <a:rPr dirty="0"/>
              <a:t>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Bezeichner</a:t>
            </a:r>
            <a:r>
              <a:rPr dirty="0"/>
              <a:t> (`Async`)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erzeugen</a:t>
            </a:r>
            <a:r>
              <a:rPr dirty="0"/>
              <a:t>. Das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fehlerfreier</a:t>
            </a:r>
            <a:r>
              <a:rPr dirty="0"/>
              <a:t> Code, der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kompiliert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Sprecher: Aldin &amp; Amadin | Dauer: ca. 2.5 - 3 Minuten</a:t>
            </a:r>
          </a:p>
          <a:p>
            <a:endParaRPr dirty="0"/>
          </a:p>
          <a:p>
            <a:r>
              <a:rPr dirty="0"/>
              <a:t>=== SPRECHTEXT ===</a:t>
            </a:r>
          </a:p>
          <a:p>
            <a:endParaRPr dirty="0"/>
          </a:p>
          <a:p>
            <a:r>
              <a:rPr dirty="0"/>
              <a:t>In der </a:t>
            </a:r>
            <a:r>
              <a:rPr dirty="0" err="1"/>
              <a:t>Theorie</a:t>
            </a:r>
            <a:r>
              <a:rPr dirty="0"/>
              <a:t> </a:t>
            </a:r>
            <a:r>
              <a:rPr dirty="0" err="1"/>
              <a:t>klingt</a:t>
            </a:r>
            <a:r>
              <a:rPr dirty="0"/>
              <a:t> KI-</a:t>
            </a:r>
            <a:r>
              <a:rPr dirty="0" err="1"/>
              <a:t>gestützte</a:t>
            </a:r>
            <a:r>
              <a:rPr dirty="0"/>
              <a:t> </a:t>
            </a:r>
            <a:r>
              <a:rPr dirty="0" err="1"/>
              <a:t>Codegenerierung</a:t>
            </a:r>
            <a:r>
              <a:rPr dirty="0"/>
              <a:t> </a:t>
            </a:r>
            <a:r>
              <a:rPr dirty="0" err="1"/>
              <a:t>magisch</a:t>
            </a:r>
            <a:r>
              <a:rPr dirty="0"/>
              <a:t>. In der Praxis </a:t>
            </a:r>
            <a:r>
              <a:rPr dirty="0" err="1"/>
              <a:t>stolpert</a:t>
            </a:r>
            <a:r>
              <a:rPr dirty="0"/>
              <a:t> man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Entwickler</a:t>
            </a:r>
            <a:r>
              <a:rPr dirty="0"/>
              <a:t> </a:t>
            </a:r>
            <a:r>
              <a:rPr dirty="0" err="1"/>
              <a:t>jedoch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schnell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harte</a:t>
            </a:r>
            <a:r>
              <a:rPr dirty="0"/>
              <a:t> </a:t>
            </a:r>
            <a:r>
              <a:rPr dirty="0" err="1"/>
              <a:t>Compilerfehler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Eine der </a:t>
            </a:r>
            <a:r>
              <a:rPr dirty="0" err="1"/>
              <a:t>größten</a:t>
            </a:r>
            <a:r>
              <a:rPr dirty="0"/>
              <a:t> </a:t>
            </a:r>
            <a:r>
              <a:rPr dirty="0" err="1"/>
              <a:t>Hürden</a:t>
            </a:r>
            <a:r>
              <a:rPr dirty="0"/>
              <a:t> war die 'Compiler-Falle'. Wenn </a:t>
            </a:r>
            <a:r>
              <a:rPr dirty="0" err="1"/>
              <a:t>wir</a:t>
            </a:r>
            <a:r>
              <a:rPr dirty="0"/>
              <a:t> C#-Code </a:t>
            </a:r>
            <a:r>
              <a:rPr dirty="0" err="1"/>
              <a:t>generierten</a:t>
            </a:r>
            <a:r>
              <a:rPr dirty="0"/>
              <a:t>, </a:t>
            </a:r>
            <a:r>
              <a:rPr dirty="0" err="1"/>
              <a:t>passierte</a:t>
            </a:r>
            <a:r>
              <a:rPr dirty="0"/>
              <a:t> es oft, </a:t>
            </a:r>
            <a:r>
              <a:rPr dirty="0" err="1"/>
              <a:t>dass</a:t>
            </a:r>
            <a:r>
              <a:rPr dirty="0"/>
              <a:t> Gemini </a:t>
            </a:r>
            <a:r>
              <a:rPr dirty="0" err="1"/>
              <a:t>wichtige</a:t>
            </a:r>
            <a:r>
              <a:rPr dirty="0"/>
              <a:t> `using`-</a:t>
            </a:r>
            <a:r>
              <a:rPr dirty="0" err="1"/>
              <a:t>Direktiven</a:t>
            </a:r>
            <a:r>
              <a:rPr dirty="0"/>
              <a:t> </a:t>
            </a:r>
            <a:r>
              <a:rPr dirty="0" err="1"/>
              <a:t>vergaß</a:t>
            </a:r>
            <a:r>
              <a:rPr dirty="0"/>
              <a:t>. Ein </a:t>
            </a:r>
            <a:r>
              <a:rPr dirty="0" err="1"/>
              <a:t>prominentes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EF Core </a:t>
            </a:r>
            <a:r>
              <a:rPr dirty="0" err="1"/>
              <a:t>Transaktionen</a:t>
            </a:r>
            <a:r>
              <a:rPr dirty="0"/>
              <a:t>: </a:t>
            </a:r>
            <a:r>
              <a:rPr dirty="0" err="1"/>
              <a:t>Verwendet</a:t>
            </a:r>
            <a:r>
              <a:rPr dirty="0"/>
              <a:t> die KI `</a:t>
            </a:r>
            <a:r>
              <a:rPr dirty="0" err="1"/>
              <a:t>BeginTransactionAsync</a:t>
            </a:r>
            <a:r>
              <a:rPr dirty="0"/>
              <a:t>()`, </a:t>
            </a:r>
            <a:r>
              <a:rPr dirty="0" err="1"/>
              <a:t>braucht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zwingend</a:t>
            </a:r>
            <a:r>
              <a:rPr dirty="0"/>
              <a:t> den Namespace `using </a:t>
            </a:r>
            <a:r>
              <a:rPr dirty="0" err="1"/>
              <a:t>Microsoft.EntityFrameworkCore.Storage</a:t>
            </a:r>
            <a:r>
              <a:rPr dirty="0"/>
              <a:t>;`, </a:t>
            </a:r>
            <a:r>
              <a:rPr dirty="0" err="1"/>
              <a:t>sonst</a:t>
            </a:r>
            <a:r>
              <a:rPr dirty="0"/>
              <a:t> </a:t>
            </a:r>
            <a:r>
              <a:rPr dirty="0" err="1"/>
              <a:t>meldet</a:t>
            </a:r>
            <a:r>
              <a:rPr dirty="0"/>
              <a:t> der Compiler den Fehler CS0246. </a:t>
            </a:r>
            <a:r>
              <a:rPr dirty="0" err="1"/>
              <a:t>Außerdem</a:t>
            </a:r>
            <a:r>
              <a:rPr dirty="0"/>
              <a:t> </a:t>
            </a:r>
            <a:r>
              <a:rPr dirty="0" err="1"/>
              <a:t>führten</a:t>
            </a:r>
            <a:r>
              <a:rPr dirty="0"/>
              <a:t> Nullable-</a:t>
            </a:r>
            <a:r>
              <a:rPr dirty="0" err="1"/>
              <a:t>Warnungen</a:t>
            </a:r>
            <a:r>
              <a:rPr dirty="0"/>
              <a:t> (CS8603) </a:t>
            </a:r>
            <a:r>
              <a:rPr dirty="0" err="1"/>
              <a:t>wegen</a:t>
            </a:r>
            <a:r>
              <a:rPr dirty="0"/>
              <a:t> nicht </a:t>
            </a:r>
            <a:r>
              <a:rPr dirty="0" err="1"/>
              <a:t>behandelter</a:t>
            </a:r>
            <a:r>
              <a:rPr dirty="0"/>
              <a:t> Null-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Fehlern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Und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Hürden</a:t>
            </a:r>
            <a:r>
              <a:rPr dirty="0"/>
              <a:t> </a:t>
            </a:r>
            <a:r>
              <a:rPr dirty="0" err="1"/>
              <a:t>gelöst</a:t>
            </a:r>
            <a:r>
              <a:rPr dirty="0"/>
              <a:t>? 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Prompts in `</a:t>
            </a:r>
            <a:r>
              <a:rPr dirty="0" err="1"/>
              <a:t>src</a:t>
            </a:r>
            <a:r>
              <a:rPr dirty="0"/>
              <a:t>/engine/prompts.py` </a:t>
            </a:r>
            <a:r>
              <a:rPr dirty="0" err="1"/>
              <a:t>massiv</a:t>
            </a:r>
            <a:r>
              <a:rPr dirty="0"/>
              <a:t> </a:t>
            </a:r>
            <a:r>
              <a:rPr dirty="0" err="1"/>
              <a:t>aufgerüstet</a:t>
            </a:r>
            <a:r>
              <a:rPr dirty="0"/>
              <a:t> und </a:t>
            </a:r>
            <a:r>
              <a:rPr dirty="0" err="1"/>
              <a:t>mit</a:t>
            </a:r>
            <a:r>
              <a:rPr dirty="0"/>
              <a:t> 'STRICT GUIDELINES FOR QUALITY AND COMPILATION' </a:t>
            </a:r>
            <a:r>
              <a:rPr dirty="0" err="1"/>
              <a:t>versehen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Wir </a:t>
            </a:r>
            <a:r>
              <a:rPr dirty="0" err="1"/>
              <a:t>zwingen</a:t>
            </a:r>
            <a:r>
              <a:rPr dirty="0"/>
              <a:t> die KI nun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all </a:t>
            </a:r>
            <a:r>
              <a:rPr dirty="0" err="1"/>
              <a:t>diese</a:t>
            </a:r>
            <a:r>
              <a:rPr dirty="0"/>
              <a:t> Namespaces </a:t>
            </a:r>
            <a:r>
              <a:rPr dirty="0" err="1"/>
              <a:t>einzubinden</a:t>
            </a:r>
            <a:r>
              <a:rPr dirty="0"/>
              <a:t>, Nullable reference types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Fragezeichen-Kennzeichner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deklarieren</a:t>
            </a:r>
            <a:r>
              <a:rPr dirty="0"/>
              <a:t> (z. B. `Task&lt;User?&gt;` für </a:t>
            </a:r>
            <a:r>
              <a:rPr dirty="0" err="1"/>
              <a:t>Methoden</a:t>
            </a:r>
            <a:r>
              <a:rPr dirty="0"/>
              <a:t>, die Null </a:t>
            </a:r>
            <a:r>
              <a:rPr dirty="0" err="1"/>
              <a:t>zurückgeben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) und dem </a:t>
            </a:r>
            <a:r>
              <a:rPr dirty="0" err="1"/>
              <a:t>asynchronen</a:t>
            </a:r>
            <a:r>
              <a:rPr dirty="0"/>
              <a:t> </a:t>
            </a:r>
            <a:r>
              <a:rPr dirty="0" err="1"/>
              <a:t>Programmiermuster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folgen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das Laden der </a:t>
            </a:r>
            <a:r>
              <a:rPr dirty="0" err="1"/>
              <a:t>echten</a:t>
            </a:r>
            <a:r>
              <a:rPr dirty="0"/>
              <a:t> SQL-</a:t>
            </a:r>
            <a:r>
              <a:rPr dirty="0" err="1"/>
              <a:t>Dateien</a:t>
            </a:r>
            <a:r>
              <a:rPr dirty="0"/>
              <a:t> die SQL-</a:t>
            </a:r>
            <a:r>
              <a:rPr dirty="0" err="1"/>
              <a:t>Typ</a:t>
            </a:r>
            <a:r>
              <a:rPr dirty="0"/>
              <a:t>-</a:t>
            </a:r>
            <a:r>
              <a:rPr dirty="0" err="1"/>
              <a:t>Verwirrung</a:t>
            </a:r>
            <a:r>
              <a:rPr dirty="0"/>
              <a:t> </a:t>
            </a:r>
            <a:r>
              <a:rPr dirty="0" err="1"/>
              <a:t>gelöst</a:t>
            </a:r>
            <a:r>
              <a:rPr dirty="0"/>
              <a:t>. Die KI muss nicht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raten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Feld </a:t>
            </a:r>
            <a:r>
              <a:rPr dirty="0" err="1"/>
              <a:t>ein</a:t>
            </a:r>
            <a:r>
              <a:rPr dirty="0"/>
              <a:t> `VARCHAR` </a:t>
            </a:r>
            <a:r>
              <a:rPr dirty="0" err="1"/>
              <a:t>oder</a:t>
            </a:r>
            <a:r>
              <a:rPr dirty="0"/>
              <a:t> `INT`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übernimmt</a:t>
            </a:r>
            <a:r>
              <a:rPr dirty="0"/>
              <a:t> es </a:t>
            </a:r>
            <a:r>
              <a:rPr dirty="0" err="1"/>
              <a:t>exakt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SQL-Definition. </a:t>
            </a:r>
            <a:r>
              <a:rPr dirty="0" err="1"/>
              <a:t>Zusammen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Retry-System für 503-Fehler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Pipeline nun </a:t>
            </a:r>
            <a:r>
              <a:rPr dirty="0" err="1"/>
              <a:t>absolut</a:t>
            </a:r>
            <a:r>
              <a:rPr dirty="0"/>
              <a:t> </a:t>
            </a:r>
            <a:r>
              <a:rPr dirty="0" err="1"/>
              <a:t>krisensicher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Lasst uns einen Blick auf das Herzstück unseres Codes in `src/main.py` werfen, der durch das Git-Update reingekommen ist. Für junge Entwickler ist dieser Code extrem leicht verständlich, weil er logisch linear aufgebaut ist.</a:t>
            </a:r>
          </a:p>
          <a:p>
            <a:endParaRPr/>
          </a:p>
          <a:p>
            <a:r>
              <a:t>In Schritt 1 sehen wir den neuen Zieldatenbank-Support: Wir lesen die Datei ein, die über das Argument `--schema-sql` übergeben wurde, und speichern das rohe SQL-Schema in der Variable `sql_schema` ab.</a:t>
            </a:r>
          </a:p>
          <a:p>
            <a:endParaRPr/>
          </a:p>
          <a:p>
            <a:r>
              <a:t>In Schritt 2 instanziieren wir unsere `MigrationEngine`. Diese kümmert sich um die gesamte Kommunikation mit der Google Gemini-API.</a:t>
            </a:r>
          </a:p>
          <a:p>
            <a:endParaRPr/>
          </a:p>
          <a:p>
            <a:r>
              <a:t>In Schritt 3 stoßen wir die Migration über `run_migration` an. Wir übergeben nicht nur den PHP-Code, sondern auch das geladene `sql_schema`. Die Engine führt erst den Analyse-Prompt aus, fasst den Intent zusammen und übergibt diese Zusammenfassung zusammen mit dem SQL-Schema an den C#-Generierungs-Prompt.</a:t>
            </a:r>
          </a:p>
          <a:p>
            <a:endParaRPr/>
          </a:p>
          <a:p>
            <a:r>
              <a:t>In Schritt 4 nimmt der `CSharpProjectGenerator` das strukturierte JSON-Ergebnis entgegen und schreibt die physischen Klassen für Controller, Services, Repositories und das DbContext-Dokument sauber auf die Festplatte.</a:t>
            </a:r>
          </a:p>
          <a:p>
            <a:endParaRPr/>
          </a:p>
          <a:p>
            <a:r>
              <a:t>Ihr seht: Mit ganz wenigen Codezeilen in Python orchestrieren wir ein extrem mächtiges Tool!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Jetzt, wo wir die Theorie und den API-Aufruf verstanden haben, lasst uns das konkrete Resultat gegenüberstellen: Das 'Vorher' gegen das 'Nachher'.</a:t>
            </a:r>
          </a:p>
          <a:p>
            <a:endParaRPr/>
          </a:p>
          <a:p>
            <a:r>
              <a:t>Auf der linken Seite sehen wir unsere Ausgangssituation im PHP-Monolithen: spaghetti-artiger Code. HTML ist mit Logik vermischt, SQL-Befehle werden direkt als Strings an die Datenbank geschickt – ein offenes Tor für Sicherheitslücken. Zudem gibt es keine Typensicherheit.</a:t>
            </a:r>
          </a:p>
          <a:p>
            <a:endParaRPr/>
          </a:p>
          <a:p>
            <a:r>
              <a:t>Auf der rechten Seite sehen wir das stolze Ergebnis unserer modernisierten Migration: Sauber strukturiertes, absolut compiler-proof C#.</a:t>
            </a:r>
          </a:p>
          <a:p>
            <a:endParaRPr/>
          </a:p>
          <a:p>
            <a:r>
              <a:t>Dank unserer neuen 'STRICT GUIDELINES' kompiliert der generierte Code völlig warnungsfrei in Visual Studio. Alle `using`-Imports (z.B. für EF Core Transaktionsspeicher) sind an Ort und Stelle. Durch die konsequente Verwendung von C# Nullable Types (wie `Task&lt;User?&gt;`) vermeiden wir lästige Compiler-Meldungen.</a:t>
            </a:r>
          </a:p>
          <a:p>
            <a:endParaRPr/>
          </a:p>
          <a:p>
            <a:r>
              <a:t>Darüber hinaus passt sich das Entity Framework über die Modelle perfekt an das übergebene SQL-Datenbankschema an. Wir erhalten somit nicht irgendeinen generischen C#-Code, sondern maßgeschneiderte Klassen, die sofort nahtlos mit unserer bestehenden SQL-Datenbank zusammenarbeiten!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Kommen wir zum Fazit unserer KIS4-Reise mit 'WebLegacy AI'. Was nehmen wir als Entwickler aus diesem Projekt mit?</a:t>
            </a:r>
          </a:p>
          <a:p>
            <a:endParaRPr/>
          </a:p>
          <a:p>
            <a:r>
              <a:t>Erstens: Die KI gibt uns Entwicklern echte Superkräfte. Sie nimmt uns die stupfe Fleißarbeit ab – wie z. B. das manuelle Schreiben von DTO-Klassen, Dependency Injection Konfigurationen oder Datenmodellen. Wir fokussieren uns stattdessen voll auf die Architektur.</a:t>
            </a:r>
          </a:p>
          <a:p>
            <a:endParaRPr/>
          </a:p>
          <a:p>
            <a:r>
              <a:t>Zweitens: Prompts sind der neue Code. Die Qualität des generierten C#-Codes steht und fällt mit der Qualität der Anweisungen an Gemini. Mit präzisen Compiler-Richtlinien können wir Code erzeugen, der ohne eine einzige Warnung kompiliert.</a:t>
            </a:r>
          </a:p>
          <a:p>
            <a:endParaRPr/>
          </a:p>
          <a:p>
            <a:r>
              <a:t>Drittens: Schemabasiertes Generieren ist Pflicht. Nur wer der KI feste Leitplanken in Form eines exakten Datenbankschemas gibt, erhält lauffähige und integrierbare Unternehmenssoftware.</a:t>
            </a:r>
          </a:p>
          <a:p>
            <a:endParaRPr/>
          </a:p>
          <a:p>
            <a:r>
              <a:t>Damit sind wir am Ende unserer Präsentation angekommen. Wir hoffen, wir konnten euch zeigen, wie spannend KI-gestützte Modernisierung ist.</a:t>
            </a:r>
          </a:p>
          <a:p>
            <a:endParaRPr/>
          </a:p>
          <a:p>
            <a:r>
              <a:t>Vielen Dank für eure Aufmerksamkeit! Wir freuen uns jetzt riesig auf eure Fragen und eine tolle Diskussion.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WebLegacy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Web-Backend Modernization</a:t>
            </a:r>
          </a:p>
          <a:p>
            <a:r>
              <a:t>Team: Aldin Memic &amp; Amadin Six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WebLegacy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Web-Backend Modernization</a:t>
            </a:r>
          </a:p>
          <a:p>
            <a:r>
              <a:t>Team: Aldin Memic &amp; Amadin Six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PHP-Code ist oft unstrukturiert (Spaghetti-Code).</a:t>
            </a:r>
          </a:p>
          <a:p>
            <a:pPr/>
            <a:r>
              <a:t>Hoher manueller Aufwand und Risiko bei manueller Migration.</a:t>
            </a:r>
          </a:p>
          <a:p>
            <a:pPr/>
            <a:r>
              <a:t>Einfaches 'Übersetzen' reicht nicht – die Architektur muss modernisiert werden.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PHP-Code ist oft unstrukturiert (Spaghetti-Code).</a:t>
            </a:r>
          </a:p>
          <a:p>
            <a:pPr/>
            <a:r>
              <a:t>Hoher manueller Aufwand und Risiko bei manueller Migration.</a:t>
            </a:r>
          </a:p>
          <a:p>
            <a:pPr/>
            <a:r>
              <a:t>Einfaches 'Übersetzen' reicht nicht – die Architektur muss modernisiert werden.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 Workflow (Die 3 Phasen)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Analysis: LLM liest PHP und extrahiert den 'Business Intent' (als JSON).</a:t>
            </a:r>
          </a:p>
          <a:p>
            <a:pPr/>
            <a:r>
              <a:t>2. Generation: C#-Komponenten (Controller, Services, Repositories).</a:t>
            </a:r>
          </a:p>
          <a:p>
            <a:pPr/>
            <a:r>
              <a:t>3. Validation: Automatisierter Cross-Language Test der Ergebnisse.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 Workflow (Die 3 Phasen)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Analysis: LLM liest PHP und extrahiert den 'Business Intent' (als JSON).</a:t>
            </a:r>
          </a:p>
          <a:p>
            <a:pPr/>
            <a:r>
              <a:t>2. Generation: C#-Komponenten (Controller, Services, Repositories).</a:t>
            </a:r>
          </a:p>
          <a:p>
            <a:pPr/>
            <a:r>
              <a:t>3. Validation: Automatisierter Cross-Language Test der Ergebnisse.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große Problem mit generativer 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(wie Gemini) sind probabilistisch ('kreativ' und manchmal 'faul').</a:t>
            </a:r>
          </a:p>
          <a:p>
            <a:pPr/>
            <a:r>
              <a:t>Token-Einsparung führt zu unvollständigem Code (fehlende Datenbank-Models).</a:t>
            </a:r>
          </a:p>
          <a:p>
            <a:pPr/>
            <a:r>
              <a:t>Erfinden von fiktiven Namespaces bricht sofort den C#-Compiler.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große Problem mit generativer 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(wie Gemini) sind probabilistisch ('kreativ' und manchmal 'faul').</a:t>
            </a:r>
          </a:p>
          <a:p>
            <a:pPr/>
            <a:r>
              <a:t>Token-Einsparung führt zu unvollständigem Code (fehlende Datenbank-Models).</a:t>
            </a:r>
          </a:p>
          <a:p>
            <a:pPr/>
            <a:r>
              <a:t>Erfinden von fiktiven Namespaces bricht sofort den C#-Compiler.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Lösung: Strict System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Keine reine Übersetzung, sondern eine regelbasierte Prompt-Engine.</a:t>
            </a:r>
          </a:p>
          <a:p>
            <a:pPr/>
            <a:r>
              <a:t>11 eiserne Compiler-Regeln (Die Leitplanken).</a:t>
            </a:r>
          </a:p>
          <a:p>
            <a:pPr/>
            <a:r>
              <a:t>Beispiele: Zwangsvollständigkeit für DB-Models, Verbot von Sub-Namespaces.</a:t>
            </a:r>
          </a:p>
          <a:p>
            <a:pPr/>
            <a:r>
              <a:t>Umbenennung von kollidierenden Tabellen (z.B. 'Task' zu 'UserTask').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Lösung: Strict System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Keine reine Übersetzung, sondern eine regelbasierte Prompt-Engine.</a:t>
            </a:r>
          </a:p>
          <a:p>
            <a:pPr/>
            <a:r>
              <a:t>11 eiserne Compiler-Regeln (Die Leitplanken).</a:t>
            </a:r>
          </a:p>
          <a:p>
            <a:pPr/>
            <a:r>
              <a:t>Beispiele: Zwangsvollständigkeit für DB-Models, Verbot von Sub-Namespaces.</a:t>
            </a:r>
          </a:p>
          <a:p>
            <a:pPr/>
            <a:r>
              <a:t>Umbenennung von kollidierenden Tabellen (z.B. 'Task' zu 'UserTask').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Meisterstück: Cross-Language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Wie beweist man, dass die KI keinen Unsinn übersetzt hat?</a:t>
            </a:r>
          </a:p>
          <a:p>
            <a:pPr/>
            <a:r>
              <a:t>Dynamisch generierte HTTP-Testfälle (Integrationstests).</a:t>
            </a:r>
          </a:p>
          <a:p>
            <a:pPr/>
            <a:r>
              <a:t>Vergleich der JSON-Outputs von altem PHP- und neuem C#-Server.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Meisterstück: Cross-Language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Wie beweist man, dass die KI keinen Unsinn übersetzt hat?</a:t>
            </a:r>
          </a:p>
          <a:p>
            <a:pPr/>
            <a:r>
              <a:t>Dynamisch generierte HTTP-Testfälle (Integrationstests).</a:t>
            </a:r>
          </a:p>
          <a:p>
            <a:pPr/>
            <a:r>
              <a:t>Vergleich der JSON-Outputs von altem PHP- und neuem C#-Server.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 &amp; Live-Demo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generiert saubere Services mit Entity Framework Core.</a:t>
            </a:r>
          </a:p>
          <a:p>
            <a:pPr/>
            <a:r>
              <a:t>Vollständige Dependency Injection (DI) Architektur.</a:t>
            </a:r>
          </a:p>
          <a:p>
            <a:pPr/>
            <a:r>
              <a:t>Automatischer Validation-Report bestätigt erfolgreiche Migration.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 &amp; Live-Demo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generiert saubere Services mit Entity Framework Core.</a:t>
            </a:r>
          </a:p>
          <a:p>
            <a:pPr/>
            <a:r>
              <a:t>Vollständige Dependency Injection (DI) Architektur.</a:t>
            </a:r>
          </a:p>
          <a:p>
            <a:pPr/>
            <a:r>
              <a:t>Automatischer Validation-Report bestätigt erfolgreiche Migration.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 ersetzt nicht das Software Engineering – sie erfordert extrem gutes Engineering.</a:t>
            </a:r>
          </a:p>
          <a:p>
            <a:pPr/>
            <a:r>
              <a:t>Prompts müssen als Code (Regelwerke) behandelt werden.</a:t>
            </a:r>
          </a:p>
          <a:p>
            <a:pPr/>
            <a:r>
              <a:t>Erfolgreiche Modernisierung ist durch automatisierte Pipelines möglich.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 ersetzt nicht das Software Engineering – sie erfordert extrem gutes Engineering.</a:t>
            </a:r>
          </a:p>
          <a:p>
            <a:pPr/>
            <a:r>
              <a:t>Prompts müssen als Code (Regelwerke) behandelt werden.</a:t>
            </a:r>
          </a:p>
          <a:p>
            <a:pPr/>
            <a:r>
              <a:t>Erfolgreiche Modernisierung ist durch automatisierte Pipelines möglich.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2548</Words>
  <Application>Microsoft Office PowerPoint</Application>
  <PresentationFormat>Breitbild</PresentationFormat>
  <Paragraphs>212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14</cp:revision>
  <dcterms:created xsi:type="dcterms:W3CDTF">2013-01-27T09:14:16Z</dcterms:created>
  <dcterms:modified xsi:type="dcterms:W3CDTF">2026-05-27T19:03:54Z</dcterms:modified>
  <cp:category/>
</cp:coreProperties>
</file>