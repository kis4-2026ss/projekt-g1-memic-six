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017" autoAdjust="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344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1.5 - 2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Hallo zusammen! Willkommen zum großen Update-Vortrag über unser Projekt 'WebLegacy AI'. In den nächsten 18 Minuten möchten wir euch zeigen, wie wir unsere Migration-Engine auf ein völlig neues Level gehoben haben.</a:t>
            </a:r>
          </a:p>
          <a:p>
            <a:endParaRPr/>
          </a:p>
          <a:p>
            <a:r>
              <a:t>Unser ursprüngliches Ziel war es, PHP-Monolithen in C# zu transformieren. In der Praxis haben wir jedoch gelernt, dass eine bloße Syntax-Übersetzung extrem fehleranfällig ist, wenn die Datenbank-Schemata und die strengen Compiler-Regeln von C# nicht berücksichtigt werden.</a:t>
            </a:r>
          </a:p>
          <a:p>
            <a:endParaRPr/>
          </a:p>
          <a:p>
            <a:r>
              <a:t>Deshalb haben wir in diesem Update zwei massive neue Features integriert: Erstens ein echtes 'Target SQL Database Schema Mapping' – das heißt, wir können der Engine das exakte Zieldatenbank-Schema übergeben. Zweitens haben wir ein Regelwerk für 'Compiler-proof C#' implementiert. Damit überwinden wir typische C#-Kompilierfehler wie fehlende Namespace-Usings bei Transaktionen oder Nullable-Warnungen.</a:t>
            </a:r>
          </a:p>
          <a:p>
            <a:endParaRPr/>
          </a:p>
          <a:p>
            <a:r>
              <a:t>Wir führen euch jetzt durch diese neuen Hürden und zeigen euch im Detail, wie wir sie mit Gemini gelöst haben!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2.5 - 3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Lasst uns mit dem Kernproblem anfangen, das wir alle aus dem Entwickleralltag kennen: Dem 'Legacy-Dilemma'. Viele Webseiten und Systeme weltweit laufen immer noch auf alten PHP-Versionen.</a:t>
            </a:r>
          </a:p>
          <a:p>
            <a:endParaRPr/>
          </a:p>
          <a:p>
            <a:r>
              <a:t>Und das bringt massive Hürden mit sich. Als erstes haben wir da den Spaghetti-Code. Im PHP der alten Schule war es völlig normal, HTML-Elemente für die Anzeige, Berechnungslogik und Datenbankabfragen direkt in eine einzige Datei zu werfen.</a:t>
            </a:r>
          </a:p>
          <a:p>
            <a:endParaRPr/>
          </a:p>
          <a:p>
            <a:r>
              <a:t>Für einen jungen Entwickler, der das heute warten soll, ist das ein Albtraum. Man blickt einfach nicht durch, wo die Logik endet und das Design anfängt.</a:t>
            </a:r>
          </a:p>
          <a:p>
            <a:endParaRPr/>
          </a:p>
          <a:p>
            <a:r>
              <a:t>Zudem hat altes PHP standardmäßig keine Typensicherheit. Wenn eine Variable '$result' verwendet wird, weiß man nie genau, ob es ein DB-Objekt, ein Array oder ein Boolean ist. Fehler fliegen uns also erst direkt beim Kunden zur Laufzeit um die Ohren.</a:t>
            </a:r>
          </a:p>
          <a:p>
            <a:endParaRPr/>
          </a:p>
          <a:p>
            <a:r>
              <a:t>Ein weiteres großes Sicherheitsrisiko sind rohe SQL-Abfragen, die oft direkt per String-Verknüpfung zusammengesetzt werden. Das ist eine Einladung für SQL-Injections, vor denen uns moderne C#-Frameworks mit ihren standardmäßig parametrisierten ORMs sofort schützen.</a:t>
            </a:r>
          </a:p>
          <a:p>
            <a:endParaRPr/>
          </a:p>
          <a:p>
            <a:r>
              <a:t>Und all diese Punkte führen direkt in die Wartungs-Hölle. Man ändert eine Codezeile links oben und plötzlich bricht das System rechts unten zusammen. Das wollen wir beheben!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2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Kommen wir zu unserer grundlegenden Philosophie für dieses Projekt.</a:t>
            </a:r>
          </a:p>
          <a:p>
            <a:endParaRPr/>
          </a:p>
          <a:p>
            <a:r>
              <a:t>Es gibt da eine ganz wichtige Erkenntnis: 'Wer Spaghetti-PHP-Code einfach 1:1 übersetzt, hat am Ende nichts gewonnen – man hat dann nur C#-Spaghetti!' Das wollten wir verhindern.</a:t>
            </a:r>
          </a:p>
          <a:p>
            <a:endParaRPr/>
          </a:p>
          <a:p>
            <a:r>
              <a:t>Und hier kommt unser erstes großes Update-Feature ins Spiel: Das 'Target SQL Database Schema Mapping'. Häufig greift alter PHP-Code wild auf eine Datenbank zu, ohne dass klar ist, welche Fremdschlüssel und Einschränkungen eigentlich existieren.</a:t>
            </a:r>
          </a:p>
          <a:p>
            <a:endParaRPr/>
          </a:p>
          <a:p>
            <a:r>
              <a:t>Mit unserem neuen Parameter `--schema-sql` können wir nun die exakte SQL-Definition der Zieldatenbank mitgeben. Die KI versteht dadurch sofort: 'Aha, die Tabelle 'Guests' hat diese Spalten und Beziehungen'. Sie generiert dann C#-Modelle und Entity Framework Core-Klassen, die sich zu 100% präzise an dieses Schema halten.</a:t>
            </a:r>
          </a:p>
          <a:p>
            <a:endParaRPr/>
          </a:p>
          <a:p>
            <a:r>
              <a:t>Daraus bauen wir das saubere Dreischicht-Architekturmuster auf: API-Controller empfangen HTTP-Requests, Services verarbeiten die Geschäftslogik und Repositories wickeln den Datenzugriff über das Entity Framework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Sprecher: Aldin &amp; Amadin | Dauer: ca. 2.5 - 3 Minuten</a:t>
            </a:r>
          </a:p>
          <a:p>
            <a:endParaRPr dirty="0"/>
          </a:p>
          <a:p>
            <a:r>
              <a:rPr dirty="0"/>
              <a:t>=== SPRECHTEXT ===</a:t>
            </a:r>
          </a:p>
          <a:p>
            <a:endParaRPr dirty="0"/>
          </a:p>
          <a:p>
            <a:r>
              <a:rPr dirty="0"/>
              <a:t>Wie </a:t>
            </a:r>
            <a:r>
              <a:rPr dirty="0" err="1"/>
              <a:t>läuft</a:t>
            </a:r>
            <a:r>
              <a:rPr dirty="0"/>
              <a:t> </a:t>
            </a:r>
            <a:r>
              <a:rPr dirty="0" err="1"/>
              <a:t>dieser</a:t>
            </a:r>
            <a:r>
              <a:rPr dirty="0"/>
              <a:t> Migrations-</a:t>
            </a:r>
            <a:r>
              <a:rPr dirty="0" err="1"/>
              <a:t>Prozess</a:t>
            </a:r>
            <a:r>
              <a:rPr dirty="0"/>
              <a:t> nun </a:t>
            </a:r>
            <a:r>
              <a:rPr dirty="0" err="1"/>
              <a:t>konkret</a:t>
            </a:r>
            <a:r>
              <a:rPr dirty="0"/>
              <a:t> in </a:t>
            </a:r>
            <a:r>
              <a:rPr dirty="0" err="1"/>
              <a:t>unserem</a:t>
            </a:r>
            <a:r>
              <a:rPr dirty="0"/>
              <a:t> </a:t>
            </a:r>
            <a:r>
              <a:rPr dirty="0" err="1"/>
              <a:t>modernisierten</a:t>
            </a:r>
            <a:r>
              <a:rPr dirty="0"/>
              <a:t> Tool ab? Wir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sauberen</a:t>
            </a:r>
            <a:r>
              <a:rPr dirty="0"/>
              <a:t>, </a:t>
            </a:r>
            <a:r>
              <a:rPr dirty="0" err="1"/>
              <a:t>dreistufigen</a:t>
            </a:r>
            <a:r>
              <a:rPr dirty="0"/>
              <a:t> </a:t>
            </a:r>
            <a:r>
              <a:rPr dirty="0" err="1"/>
              <a:t>Ablauf</a:t>
            </a:r>
            <a:r>
              <a:rPr dirty="0"/>
              <a:t> </a:t>
            </a:r>
            <a:r>
              <a:rPr dirty="0" err="1"/>
              <a:t>programmiert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In Schritt 1, der </a:t>
            </a:r>
            <a:r>
              <a:rPr dirty="0" err="1"/>
              <a:t>Analyse</a:t>
            </a:r>
            <a:r>
              <a:rPr dirty="0"/>
              <a:t>, </a:t>
            </a:r>
            <a:r>
              <a:rPr dirty="0" err="1"/>
              <a:t>liest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Python-App die PHP-</a:t>
            </a:r>
            <a:r>
              <a:rPr dirty="0" err="1"/>
              <a:t>Monolithen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und </a:t>
            </a:r>
            <a:r>
              <a:rPr dirty="0" err="1"/>
              <a:t>sendet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an Gemini. Gemini </a:t>
            </a:r>
            <a:r>
              <a:rPr dirty="0" err="1"/>
              <a:t>extrahiert</a:t>
            </a:r>
            <a:r>
              <a:rPr dirty="0"/>
              <a:t> die </a:t>
            </a:r>
            <a:r>
              <a:rPr dirty="0" err="1"/>
              <a:t>Geschäftsregeln</a:t>
            </a:r>
            <a:r>
              <a:rPr dirty="0"/>
              <a:t> und </a:t>
            </a:r>
            <a:r>
              <a:rPr dirty="0" err="1"/>
              <a:t>gibt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strukturiertes</a:t>
            </a:r>
            <a:r>
              <a:rPr dirty="0"/>
              <a:t> JSON </a:t>
            </a:r>
            <a:r>
              <a:rPr dirty="0" err="1"/>
              <a:t>zurück</a:t>
            </a:r>
            <a:r>
              <a:rPr dirty="0"/>
              <a:t>: '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Eingaben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erwartet</a:t>
            </a:r>
            <a:r>
              <a:rPr dirty="0"/>
              <a:t>, 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Ausgaben</a:t>
            </a:r>
            <a:r>
              <a:rPr dirty="0"/>
              <a:t> </a:t>
            </a:r>
            <a:r>
              <a:rPr dirty="0" err="1"/>
              <a:t>erzeugt</a:t>
            </a:r>
            <a:r>
              <a:rPr dirty="0"/>
              <a:t> und </a:t>
            </a:r>
            <a:r>
              <a:rPr dirty="0" err="1"/>
              <a:t>welche</a:t>
            </a:r>
            <a:r>
              <a:rPr dirty="0"/>
              <a:t> Business-Rules </a:t>
            </a:r>
            <a:r>
              <a:rPr dirty="0" err="1"/>
              <a:t>gelten</a:t>
            </a:r>
            <a:r>
              <a:rPr dirty="0"/>
              <a:t>?'.</a:t>
            </a:r>
          </a:p>
          <a:p>
            <a:endParaRPr dirty="0"/>
          </a:p>
          <a:p>
            <a:r>
              <a:rPr dirty="0"/>
              <a:t>In Schritt 2, dem Mapping, </a:t>
            </a:r>
            <a:r>
              <a:rPr dirty="0" err="1"/>
              <a:t>bringen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die </a:t>
            </a:r>
            <a:r>
              <a:rPr dirty="0" err="1"/>
              <a:t>neuen</a:t>
            </a:r>
            <a:r>
              <a:rPr dirty="0"/>
              <a:t> </a:t>
            </a:r>
            <a:r>
              <a:rPr dirty="0" err="1"/>
              <a:t>Daten</a:t>
            </a:r>
            <a:r>
              <a:rPr dirty="0"/>
              <a:t> ins Spiel! Wenn </a:t>
            </a:r>
            <a:r>
              <a:rPr dirty="0" err="1"/>
              <a:t>eine</a:t>
            </a:r>
            <a:r>
              <a:rPr dirty="0"/>
              <a:t> SQL-Schema-</a:t>
            </a:r>
            <a:r>
              <a:rPr dirty="0" err="1"/>
              <a:t>Datei</a:t>
            </a:r>
            <a:r>
              <a:rPr dirty="0"/>
              <a:t> </a:t>
            </a:r>
            <a:r>
              <a:rPr dirty="0" err="1"/>
              <a:t>übergeben</a:t>
            </a:r>
            <a:r>
              <a:rPr dirty="0"/>
              <a:t> </a:t>
            </a:r>
            <a:r>
              <a:rPr dirty="0" err="1"/>
              <a:t>wurde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`--schema-</a:t>
            </a:r>
            <a:r>
              <a:rPr dirty="0" err="1"/>
              <a:t>sql</a:t>
            </a:r>
            <a:r>
              <a:rPr dirty="0"/>
              <a:t> </a:t>
            </a:r>
            <a:r>
              <a:rPr dirty="0" err="1"/>
              <a:t>target.sql</a:t>
            </a:r>
            <a:r>
              <a:rPr dirty="0"/>
              <a:t>`), </a:t>
            </a:r>
            <a:r>
              <a:rPr dirty="0" err="1"/>
              <a:t>gleicht</a:t>
            </a:r>
            <a:r>
              <a:rPr dirty="0"/>
              <a:t> das System die </a:t>
            </a:r>
            <a:r>
              <a:rPr dirty="0" err="1"/>
              <a:t>analysierten</a:t>
            </a:r>
            <a:r>
              <a:rPr dirty="0"/>
              <a:t> PHP-</a:t>
            </a:r>
            <a:r>
              <a:rPr dirty="0" err="1"/>
              <a:t>Zugriffe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echten</a:t>
            </a:r>
            <a:r>
              <a:rPr dirty="0"/>
              <a:t> </a:t>
            </a:r>
            <a:r>
              <a:rPr dirty="0" err="1"/>
              <a:t>Datenbankschema</a:t>
            </a:r>
            <a:r>
              <a:rPr dirty="0"/>
              <a:t> ab. </a:t>
            </a:r>
            <a:r>
              <a:rPr dirty="0" err="1"/>
              <a:t>Dadurch</a:t>
            </a:r>
            <a:r>
              <a:rPr dirty="0"/>
              <a:t> </a:t>
            </a:r>
            <a:r>
              <a:rPr dirty="0" err="1"/>
              <a:t>weiß</a:t>
            </a:r>
            <a:r>
              <a:rPr dirty="0"/>
              <a:t> die KI </a:t>
            </a:r>
            <a:r>
              <a:rPr dirty="0" err="1"/>
              <a:t>exakt</a:t>
            </a:r>
            <a:r>
              <a:rPr dirty="0"/>
              <a:t>, 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Typen</a:t>
            </a:r>
            <a:r>
              <a:rPr dirty="0"/>
              <a:t> und </a:t>
            </a:r>
            <a:r>
              <a:rPr dirty="0" err="1"/>
              <a:t>Beziehungen</a:t>
            </a:r>
            <a:r>
              <a:rPr dirty="0"/>
              <a:t> in C# </a:t>
            </a:r>
            <a:r>
              <a:rPr dirty="0" err="1"/>
              <a:t>generiert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müssen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In Schritt 3, der </a:t>
            </a:r>
            <a:r>
              <a:rPr dirty="0" err="1"/>
              <a:t>Generierung</a:t>
            </a:r>
            <a:r>
              <a:rPr dirty="0"/>
              <a:t>, </a:t>
            </a:r>
            <a:r>
              <a:rPr dirty="0" err="1"/>
              <a:t>schreiben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die C#-</a:t>
            </a:r>
            <a:r>
              <a:rPr dirty="0" err="1"/>
              <a:t>Dateien</a:t>
            </a:r>
            <a:r>
              <a:rPr dirty="0"/>
              <a:t>. Hier </a:t>
            </a:r>
            <a:r>
              <a:rPr dirty="0" err="1"/>
              <a:t>greifen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</a:t>
            </a:r>
            <a:r>
              <a:rPr dirty="0" err="1"/>
              <a:t>brandneuen</a:t>
            </a:r>
            <a:r>
              <a:rPr dirty="0"/>
              <a:t> 'Strict C#-Guidelines'. Die KI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gezwungen</a:t>
            </a:r>
            <a:r>
              <a:rPr dirty="0"/>
              <a:t>, alle Namespace-Usings </a:t>
            </a:r>
            <a:r>
              <a:rPr dirty="0" err="1"/>
              <a:t>einzufügen</a:t>
            </a:r>
            <a:r>
              <a:rPr dirty="0"/>
              <a:t>, Nullable Reference Types (`Task&lt;User?&gt;` </a:t>
            </a:r>
            <a:r>
              <a:rPr dirty="0" err="1"/>
              <a:t>statt</a:t>
            </a:r>
            <a:r>
              <a:rPr dirty="0"/>
              <a:t> `Task&lt;User&gt;`) </a:t>
            </a:r>
            <a:r>
              <a:rPr dirty="0" err="1"/>
              <a:t>sauber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handhaben</a:t>
            </a:r>
            <a:r>
              <a:rPr dirty="0"/>
              <a:t>, um </a:t>
            </a:r>
            <a:r>
              <a:rPr dirty="0" err="1"/>
              <a:t>Compilerwarnungen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vermeiden</a:t>
            </a:r>
            <a:r>
              <a:rPr dirty="0"/>
              <a:t>, und </a:t>
            </a:r>
            <a:r>
              <a:rPr dirty="0" err="1"/>
              <a:t>konsistente</a:t>
            </a:r>
            <a:r>
              <a:rPr dirty="0"/>
              <a:t> </a:t>
            </a:r>
            <a:r>
              <a:rPr dirty="0" err="1"/>
              <a:t>asynchrone</a:t>
            </a:r>
            <a:r>
              <a:rPr dirty="0"/>
              <a:t> </a:t>
            </a:r>
            <a:r>
              <a:rPr dirty="0" err="1"/>
              <a:t>Bezeichner</a:t>
            </a:r>
            <a:r>
              <a:rPr dirty="0"/>
              <a:t> (`Async`)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erzeugen</a:t>
            </a:r>
            <a:r>
              <a:rPr dirty="0"/>
              <a:t>. Das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fehlerfreier</a:t>
            </a:r>
            <a:r>
              <a:rPr dirty="0"/>
              <a:t> Code, der </a:t>
            </a:r>
            <a:r>
              <a:rPr dirty="0" err="1"/>
              <a:t>direkt</a:t>
            </a:r>
            <a:r>
              <a:rPr dirty="0"/>
              <a:t> </a:t>
            </a:r>
            <a:r>
              <a:rPr dirty="0" err="1"/>
              <a:t>kompiliert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Sprecher: Aldin &amp; Amadin | Dauer: ca. 2.5 - 3 Minuten</a:t>
            </a:r>
          </a:p>
          <a:p>
            <a:endParaRPr dirty="0"/>
          </a:p>
          <a:p>
            <a:r>
              <a:rPr dirty="0"/>
              <a:t>=== SPRECHTEXT ===</a:t>
            </a:r>
          </a:p>
          <a:p>
            <a:endParaRPr dirty="0"/>
          </a:p>
          <a:p>
            <a:r>
              <a:rPr dirty="0"/>
              <a:t>In der </a:t>
            </a:r>
            <a:r>
              <a:rPr dirty="0" err="1"/>
              <a:t>Theorie</a:t>
            </a:r>
            <a:r>
              <a:rPr dirty="0"/>
              <a:t> </a:t>
            </a:r>
            <a:r>
              <a:rPr dirty="0" err="1"/>
              <a:t>klingt</a:t>
            </a:r>
            <a:r>
              <a:rPr dirty="0"/>
              <a:t> KI-</a:t>
            </a:r>
            <a:r>
              <a:rPr dirty="0" err="1"/>
              <a:t>gestützte</a:t>
            </a:r>
            <a:r>
              <a:rPr dirty="0"/>
              <a:t> </a:t>
            </a:r>
            <a:r>
              <a:rPr dirty="0" err="1"/>
              <a:t>Codegenerierung</a:t>
            </a:r>
            <a:r>
              <a:rPr dirty="0"/>
              <a:t> </a:t>
            </a:r>
            <a:r>
              <a:rPr dirty="0" err="1"/>
              <a:t>magisch</a:t>
            </a:r>
            <a:r>
              <a:rPr dirty="0"/>
              <a:t>. In der Praxis </a:t>
            </a:r>
            <a:r>
              <a:rPr dirty="0" err="1"/>
              <a:t>stolpert</a:t>
            </a:r>
            <a:r>
              <a:rPr dirty="0"/>
              <a:t> man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Entwickler</a:t>
            </a:r>
            <a:r>
              <a:rPr dirty="0"/>
              <a:t> </a:t>
            </a:r>
            <a:r>
              <a:rPr dirty="0" err="1"/>
              <a:t>jedoch</a:t>
            </a:r>
            <a:r>
              <a:rPr dirty="0"/>
              <a:t> </a:t>
            </a:r>
            <a:r>
              <a:rPr dirty="0" err="1"/>
              <a:t>sehr</a:t>
            </a:r>
            <a:r>
              <a:rPr dirty="0"/>
              <a:t> schnell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harte</a:t>
            </a:r>
            <a:r>
              <a:rPr dirty="0"/>
              <a:t> </a:t>
            </a:r>
            <a:r>
              <a:rPr dirty="0" err="1"/>
              <a:t>Compilerfehler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Eine der </a:t>
            </a:r>
            <a:r>
              <a:rPr dirty="0" err="1"/>
              <a:t>größten</a:t>
            </a:r>
            <a:r>
              <a:rPr dirty="0"/>
              <a:t> </a:t>
            </a:r>
            <a:r>
              <a:rPr dirty="0" err="1"/>
              <a:t>Hürden</a:t>
            </a:r>
            <a:r>
              <a:rPr dirty="0"/>
              <a:t> war die 'Compiler-Falle'. Wenn </a:t>
            </a:r>
            <a:r>
              <a:rPr dirty="0" err="1"/>
              <a:t>wir</a:t>
            </a:r>
            <a:r>
              <a:rPr dirty="0"/>
              <a:t> C#-Code </a:t>
            </a:r>
            <a:r>
              <a:rPr dirty="0" err="1"/>
              <a:t>generierten</a:t>
            </a:r>
            <a:r>
              <a:rPr dirty="0"/>
              <a:t>, </a:t>
            </a:r>
            <a:r>
              <a:rPr dirty="0" err="1"/>
              <a:t>passierte</a:t>
            </a:r>
            <a:r>
              <a:rPr dirty="0"/>
              <a:t> es oft, </a:t>
            </a:r>
            <a:r>
              <a:rPr dirty="0" err="1"/>
              <a:t>dass</a:t>
            </a:r>
            <a:r>
              <a:rPr dirty="0"/>
              <a:t> Gemini </a:t>
            </a:r>
            <a:r>
              <a:rPr dirty="0" err="1"/>
              <a:t>wichtige</a:t>
            </a:r>
            <a:r>
              <a:rPr dirty="0"/>
              <a:t> `using`-</a:t>
            </a:r>
            <a:r>
              <a:rPr dirty="0" err="1"/>
              <a:t>Direktiven</a:t>
            </a:r>
            <a:r>
              <a:rPr dirty="0"/>
              <a:t> </a:t>
            </a:r>
            <a:r>
              <a:rPr dirty="0" err="1"/>
              <a:t>vergaß</a:t>
            </a:r>
            <a:r>
              <a:rPr dirty="0"/>
              <a:t>. Ein </a:t>
            </a:r>
            <a:r>
              <a:rPr dirty="0" err="1"/>
              <a:t>prominentes</a:t>
            </a:r>
            <a:r>
              <a:rPr dirty="0"/>
              <a:t> </a:t>
            </a:r>
            <a:r>
              <a:rPr dirty="0" err="1"/>
              <a:t>Beispiel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EF Core </a:t>
            </a:r>
            <a:r>
              <a:rPr dirty="0" err="1"/>
              <a:t>Transaktionen</a:t>
            </a:r>
            <a:r>
              <a:rPr dirty="0"/>
              <a:t>: </a:t>
            </a:r>
            <a:r>
              <a:rPr dirty="0" err="1"/>
              <a:t>Verwendet</a:t>
            </a:r>
            <a:r>
              <a:rPr dirty="0"/>
              <a:t> die KI `</a:t>
            </a:r>
            <a:r>
              <a:rPr dirty="0" err="1"/>
              <a:t>BeginTransactionAsync</a:t>
            </a:r>
            <a:r>
              <a:rPr dirty="0"/>
              <a:t>()`, </a:t>
            </a:r>
            <a:r>
              <a:rPr dirty="0" err="1"/>
              <a:t>braucht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zwingend</a:t>
            </a:r>
            <a:r>
              <a:rPr dirty="0"/>
              <a:t> den Namespace `using </a:t>
            </a:r>
            <a:r>
              <a:rPr dirty="0" err="1"/>
              <a:t>Microsoft.EntityFrameworkCore.Storage</a:t>
            </a:r>
            <a:r>
              <a:rPr dirty="0"/>
              <a:t>;`, </a:t>
            </a:r>
            <a:r>
              <a:rPr dirty="0" err="1"/>
              <a:t>sonst</a:t>
            </a:r>
            <a:r>
              <a:rPr dirty="0"/>
              <a:t> </a:t>
            </a:r>
            <a:r>
              <a:rPr dirty="0" err="1"/>
              <a:t>meldet</a:t>
            </a:r>
            <a:r>
              <a:rPr dirty="0"/>
              <a:t> der Compiler den Fehler CS0246. </a:t>
            </a:r>
            <a:r>
              <a:rPr dirty="0" err="1"/>
              <a:t>Außerdem</a:t>
            </a:r>
            <a:r>
              <a:rPr dirty="0"/>
              <a:t> </a:t>
            </a:r>
            <a:r>
              <a:rPr dirty="0" err="1"/>
              <a:t>führten</a:t>
            </a:r>
            <a:r>
              <a:rPr dirty="0"/>
              <a:t> Nullable-</a:t>
            </a:r>
            <a:r>
              <a:rPr dirty="0" err="1"/>
              <a:t>Warnungen</a:t>
            </a:r>
            <a:r>
              <a:rPr dirty="0"/>
              <a:t> (CS8603) </a:t>
            </a:r>
            <a:r>
              <a:rPr dirty="0" err="1"/>
              <a:t>wegen</a:t>
            </a:r>
            <a:r>
              <a:rPr dirty="0"/>
              <a:t> nicht </a:t>
            </a:r>
            <a:r>
              <a:rPr dirty="0" err="1"/>
              <a:t>behandelter</a:t>
            </a:r>
            <a:r>
              <a:rPr dirty="0"/>
              <a:t> Null-</a:t>
            </a:r>
            <a:r>
              <a:rPr dirty="0" err="1"/>
              <a:t>Werte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Fehlern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Und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Hürden</a:t>
            </a:r>
            <a:r>
              <a:rPr dirty="0"/>
              <a:t> </a:t>
            </a:r>
            <a:r>
              <a:rPr dirty="0" err="1"/>
              <a:t>gelöst</a:t>
            </a:r>
            <a:r>
              <a:rPr dirty="0"/>
              <a:t>? Wir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Prompts in `</a:t>
            </a:r>
            <a:r>
              <a:rPr dirty="0" err="1"/>
              <a:t>src</a:t>
            </a:r>
            <a:r>
              <a:rPr dirty="0"/>
              <a:t>/engine/prompts.py` </a:t>
            </a:r>
            <a:r>
              <a:rPr dirty="0" err="1"/>
              <a:t>massiv</a:t>
            </a:r>
            <a:r>
              <a:rPr dirty="0"/>
              <a:t> </a:t>
            </a:r>
            <a:r>
              <a:rPr dirty="0" err="1"/>
              <a:t>aufgerüstet</a:t>
            </a:r>
            <a:r>
              <a:rPr dirty="0"/>
              <a:t> und </a:t>
            </a:r>
            <a:r>
              <a:rPr dirty="0" err="1"/>
              <a:t>mit</a:t>
            </a:r>
            <a:r>
              <a:rPr dirty="0"/>
              <a:t> 'STRICT GUIDELINES FOR QUALITY AND COMPILATION' </a:t>
            </a:r>
            <a:r>
              <a:rPr dirty="0" err="1"/>
              <a:t>versehen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Wir </a:t>
            </a:r>
            <a:r>
              <a:rPr dirty="0" err="1"/>
              <a:t>zwingen</a:t>
            </a:r>
            <a:r>
              <a:rPr dirty="0"/>
              <a:t> die KI nun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dazu</a:t>
            </a:r>
            <a:r>
              <a:rPr dirty="0"/>
              <a:t>, all </a:t>
            </a:r>
            <a:r>
              <a:rPr dirty="0" err="1"/>
              <a:t>diese</a:t>
            </a:r>
            <a:r>
              <a:rPr dirty="0"/>
              <a:t> Namespaces </a:t>
            </a:r>
            <a:r>
              <a:rPr dirty="0" err="1"/>
              <a:t>einzubinden</a:t>
            </a:r>
            <a:r>
              <a:rPr dirty="0"/>
              <a:t>, Nullable reference types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Fragezeichen-Kennzeichner</a:t>
            </a:r>
            <a:r>
              <a:rPr dirty="0"/>
              <a:t> </a:t>
            </a:r>
            <a:r>
              <a:rPr dirty="0" err="1"/>
              <a:t>sauber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deklarieren</a:t>
            </a:r>
            <a:r>
              <a:rPr dirty="0"/>
              <a:t> (z. B. `Task&lt;User?&gt;` für </a:t>
            </a:r>
            <a:r>
              <a:rPr dirty="0" err="1"/>
              <a:t>Methoden</a:t>
            </a:r>
            <a:r>
              <a:rPr dirty="0"/>
              <a:t>, die Null </a:t>
            </a:r>
            <a:r>
              <a:rPr dirty="0" err="1"/>
              <a:t>zurückgeben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) und dem </a:t>
            </a:r>
            <a:r>
              <a:rPr dirty="0" err="1"/>
              <a:t>asynchronen</a:t>
            </a:r>
            <a:r>
              <a:rPr dirty="0"/>
              <a:t> </a:t>
            </a:r>
            <a:r>
              <a:rPr dirty="0" err="1"/>
              <a:t>Programmiermuster</a:t>
            </a:r>
            <a:r>
              <a:rPr dirty="0"/>
              <a:t> </a:t>
            </a:r>
            <a:r>
              <a:rPr dirty="0" err="1"/>
              <a:t>sauber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folgen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Zusätzlich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das Laden der </a:t>
            </a:r>
            <a:r>
              <a:rPr dirty="0" err="1"/>
              <a:t>echten</a:t>
            </a:r>
            <a:r>
              <a:rPr dirty="0"/>
              <a:t> SQL-</a:t>
            </a:r>
            <a:r>
              <a:rPr dirty="0" err="1"/>
              <a:t>Dateien</a:t>
            </a:r>
            <a:r>
              <a:rPr dirty="0"/>
              <a:t> die SQL-</a:t>
            </a:r>
            <a:r>
              <a:rPr dirty="0" err="1"/>
              <a:t>Typ</a:t>
            </a:r>
            <a:r>
              <a:rPr dirty="0"/>
              <a:t>-</a:t>
            </a:r>
            <a:r>
              <a:rPr dirty="0" err="1"/>
              <a:t>Verwirrung</a:t>
            </a:r>
            <a:r>
              <a:rPr dirty="0"/>
              <a:t> </a:t>
            </a:r>
            <a:r>
              <a:rPr dirty="0" err="1"/>
              <a:t>gelöst</a:t>
            </a:r>
            <a:r>
              <a:rPr dirty="0"/>
              <a:t>. Die KI muss nicht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raten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Feld </a:t>
            </a:r>
            <a:r>
              <a:rPr dirty="0" err="1"/>
              <a:t>ein</a:t>
            </a:r>
            <a:r>
              <a:rPr dirty="0"/>
              <a:t> `VARCHAR` </a:t>
            </a:r>
            <a:r>
              <a:rPr dirty="0" err="1"/>
              <a:t>oder</a:t>
            </a:r>
            <a:r>
              <a:rPr dirty="0"/>
              <a:t> `INT`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übernimmt</a:t>
            </a:r>
            <a:r>
              <a:rPr dirty="0"/>
              <a:t> es </a:t>
            </a:r>
            <a:r>
              <a:rPr dirty="0" err="1"/>
              <a:t>exakt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der SQL-Definition. </a:t>
            </a:r>
            <a:r>
              <a:rPr dirty="0" err="1"/>
              <a:t>Zusammen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Retry-System für 503-Fehler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Pipeline nun </a:t>
            </a:r>
            <a:r>
              <a:rPr dirty="0" err="1"/>
              <a:t>absolut</a:t>
            </a:r>
            <a:r>
              <a:rPr dirty="0"/>
              <a:t> </a:t>
            </a:r>
            <a:r>
              <a:rPr dirty="0" err="1"/>
              <a:t>krisensicher</a:t>
            </a:r>
            <a:r>
              <a:rPr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2.5 - 3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Lasst uns einen Blick auf das Herzstück unseres Codes in `src/main.py` werfen, der durch das Git-Update reingekommen ist. Für junge Entwickler ist dieser Code extrem leicht verständlich, weil er logisch linear aufgebaut ist.</a:t>
            </a:r>
          </a:p>
          <a:p>
            <a:endParaRPr/>
          </a:p>
          <a:p>
            <a:r>
              <a:t>In Schritt 1 sehen wir den neuen Zieldatenbank-Support: Wir lesen die Datei ein, die über das Argument `--schema-sql` übergeben wurde, und speichern das rohe SQL-Schema in der Variable `sql_schema` ab.</a:t>
            </a:r>
          </a:p>
          <a:p>
            <a:endParaRPr/>
          </a:p>
          <a:p>
            <a:r>
              <a:t>In Schritt 2 instanziieren wir unsere `MigrationEngine`. Diese kümmert sich um die gesamte Kommunikation mit der Google Gemini-API.</a:t>
            </a:r>
          </a:p>
          <a:p>
            <a:endParaRPr/>
          </a:p>
          <a:p>
            <a:r>
              <a:t>In Schritt 3 stoßen wir die Migration über `run_migration` an. Wir übergeben nicht nur den PHP-Code, sondern auch das geladene `sql_schema`. Die Engine führt erst den Analyse-Prompt aus, fasst den Intent zusammen und übergibt diese Zusammenfassung zusammen mit dem SQL-Schema an den C#-Generierungs-Prompt.</a:t>
            </a:r>
          </a:p>
          <a:p>
            <a:endParaRPr/>
          </a:p>
          <a:p>
            <a:r>
              <a:t>In Schritt 4 nimmt der `CSharpProjectGenerator` das strukturierte JSON-Ergebnis entgegen und schreibt die physischen Klassen für Controller, Services, Repositories und das DbContext-Dokument sauber auf die Festplatte.</a:t>
            </a:r>
          </a:p>
          <a:p>
            <a:endParaRPr/>
          </a:p>
          <a:p>
            <a:r>
              <a:t>Ihr seht: Mit ganz wenigen Codezeilen in Python orchestrieren wir ein extrem mächtiges Tool!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2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Jetzt, wo wir die Theorie und den API-Aufruf verstanden haben, lasst uns das konkrete Resultat gegenüberstellen: Das 'Vorher' gegen das 'Nachher'.</a:t>
            </a:r>
          </a:p>
          <a:p>
            <a:endParaRPr/>
          </a:p>
          <a:p>
            <a:r>
              <a:t>Auf der linken Seite sehen wir unsere Ausgangssituation im PHP-Monolithen: spaghetti-artiger Code. HTML ist mit Logik vermischt, SQL-Befehle werden direkt als Strings an die Datenbank geschickt – ein offenes Tor für Sicherheitslücken. Zudem gibt es keine Typensicherheit.</a:t>
            </a:r>
          </a:p>
          <a:p>
            <a:endParaRPr/>
          </a:p>
          <a:p>
            <a:r>
              <a:t>Auf der rechten Seite sehen wir das stolze Ergebnis unserer modernisierten Migration: Sauber strukturiertes, absolut compiler-proof C#.</a:t>
            </a:r>
          </a:p>
          <a:p>
            <a:endParaRPr/>
          </a:p>
          <a:p>
            <a:r>
              <a:t>Dank unserer neuen 'STRICT GUIDELINES' kompiliert der generierte Code völlig warnungsfrei in Visual Studio. Alle `using`-Imports (z.B. für EF Core Transaktionsspeicher) sind an Ort und Stelle. Durch die konsequente Verwendung von C# Nullable Types (wie `Task&lt;User?&gt;`) vermeiden wir lästige Compiler-Meldungen.</a:t>
            </a:r>
          </a:p>
          <a:p>
            <a:endParaRPr/>
          </a:p>
          <a:p>
            <a:r>
              <a:t>Darüber hinaus passt sich das Entity Framework über die Modelle perfekt an das übergebene SQL-Datenbankschema an. Wir erhalten somit nicht irgendeinen generischen C#-Code, sondern maßgeschneiderte Klassen, die sofort nahtlos mit unserer bestehenden SQL-Datenbank zusammenarbeiten!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Sprecher: Aldin &amp; Amadin | Dauer: ca. 1.5 - 2 Minuten</a:t>
            </a:r>
          </a:p>
          <a:p>
            <a:endParaRPr/>
          </a:p>
          <a:p>
            <a:r>
              <a:t>=== SPRECHTEXT ===</a:t>
            </a:r>
          </a:p>
          <a:p>
            <a:endParaRPr/>
          </a:p>
          <a:p>
            <a:r>
              <a:t>Kommen wir zum Fazit unserer KIS4-Reise mit 'WebLegacy AI'. Was nehmen wir als Entwickler aus diesem Projekt mit?</a:t>
            </a:r>
          </a:p>
          <a:p>
            <a:endParaRPr/>
          </a:p>
          <a:p>
            <a:r>
              <a:t>Erstens: Die KI gibt uns Entwicklern echte Superkräfte. Sie nimmt uns die stupfe Fleißarbeit ab – wie z. B. das manuelle Schreiben von DTO-Klassen, Dependency Injection Konfigurationen oder Datenmodellen. Wir fokussieren uns stattdessen voll auf die Architektur.</a:t>
            </a:r>
          </a:p>
          <a:p>
            <a:endParaRPr/>
          </a:p>
          <a:p>
            <a:r>
              <a:t>Zweitens: Prompts sind der neue Code. Die Qualität des generierten C#-Codes steht und fällt mit der Qualität der Anweisungen an Gemini. Mit präzisen Compiler-Richtlinien können wir Code erzeugen, der ohne eine einzige Warnung kompiliert.</a:t>
            </a:r>
          </a:p>
          <a:p>
            <a:endParaRPr/>
          </a:p>
          <a:p>
            <a:r>
              <a:t>Drittens: Schemabasiertes Generieren ist Pflicht. Nur wer der KI feste Leitplanken in Form eines exakten Datenbankschemas gibt, erhält lauffähige und integrierbare Unternehmenssoftware.</a:t>
            </a:r>
          </a:p>
          <a:p>
            <a:endParaRPr/>
          </a:p>
          <a:p>
            <a:r>
              <a:t>Damit sind wir am Ende unserer Präsentation angekommen. Wir hoffen, wir konnten euch zeigen, wie spannend KI-gestützte Modernisierung ist.</a:t>
            </a:r>
          </a:p>
          <a:p>
            <a:endParaRPr/>
          </a:p>
          <a:p>
            <a:r>
              <a:t>Vielen Dank für eure Aufmerksamkeit! Wir freuen uns jetzt riesig auf eure Fragen und eine tolle Diskussion.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100584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896112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PROJEKT-PRÄSENTATION  |  KIS4 - AI-ASSISTED SE</a:t>
            </a:r>
          </a:p>
          <a:p>
            <a:pPr>
              <a:spcAft>
                <a:spcPts val="600"/>
              </a:spcAft>
              <a:defRPr sz="5600" b="1">
                <a:solidFill>
                  <a:srgbClr val="14B8A6"/>
                </a:solidFill>
                <a:latin typeface="Segoe UI"/>
              </a:defRPr>
            </a:pPr>
            <a:r>
              <a:rPr dirty="0" err="1"/>
              <a:t>WebLegacy</a:t>
            </a:r>
            <a:r>
              <a:rPr dirty="0"/>
              <a:t> AI</a:t>
            </a:r>
          </a:p>
          <a:p>
            <a:pPr>
              <a:spcAft>
                <a:spcPts val="3600"/>
              </a:spcAft>
              <a:defRPr sz="2000">
                <a:solidFill>
                  <a:srgbClr val="E2E8F0"/>
                </a:solidFill>
                <a:latin typeface="Segoe UI"/>
              </a:defRPr>
            </a:pPr>
            <a:r>
              <a:rPr dirty="0"/>
              <a:t>Skalierbare Enterprise-Migration &amp; Native </a:t>
            </a:r>
            <a:r>
              <a:rPr dirty="0" err="1"/>
              <a:t>Validierungs</a:t>
            </a:r>
            <a:r>
              <a:rPr dirty="0"/>
              <a:t>-Engine</a:t>
            </a:r>
          </a:p>
          <a:p>
            <a:pPr>
              <a:defRPr sz="1600" b="1">
                <a:solidFill>
                  <a:srgbClr val="94A3B8"/>
                </a:solidFill>
                <a:latin typeface="Segoe UI"/>
              </a:defRPr>
            </a:pPr>
            <a:r>
              <a:rPr dirty="0" err="1"/>
              <a:t>Entwickelt</a:t>
            </a:r>
            <a:r>
              <a:rPr dirty="0"/>
              <a:t> von Aldin Memic &amp; Amadin Six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rPr lang="de-DE" sz="3600" b="1" dirty="0"/>
              <a:t>Vom Chaos zur Struktur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2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1. Spaghetti-Code &amp; Relationale Komplexität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HTML-Dashboard, Logik und Datenbankabfragen sind wild in PHP vermischt. 9 Tabellen mit komplexen Relationen.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2. Komplexe Business-Transaktionen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Bestandsreservierungen, automatische Rabatte ab 500€ und dynamische Versandkostenberechnungen im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3. Gemischte Zuständigkeiten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Geschäftsregeln, SQL-Queries und HTML-Ausgaben liegen chaotisch verstreut in monolithischen PHP-Dateien.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4. Erhöhtes Fehlerrisiko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Manuelle Anpassungen ohne automatisierte Tests führen schnell zu unvorhersehbaren Ausfällen bei der API-Ausführung.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Die Vision: Typsichere Enterprise-Architektur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2976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Die goldene Regel:</a:t>
            </a:r>
          </a:p>
          <a:p>
            <a:pPr>
              <a:spcAft>
                <a:spcPts val="1600"/>
              </a:spcAft>
              <a:defRPr sz="2800" b="1" i="1">
                <a:solidFill>
                  <a:srgbClr val="0F172A"/>
                </a:solidFill>
                <a:latin typeface="Segoe UI"/>
              </a:defRPr>
            </a:pPr>
            <a:r>
              <a:t>"Wer PHP-Spaghetti 1:1 übersetzt, erhält am Ende nur C#-Spaghetti!"</a:t>
            </a:r>
          </a:p>
          <a:p>
            <a:pPr>
              <a:defRPr sz="1500">
                <a:solidFill>
                  <a:srgbClr val="0F172A"/>
                </a:solidFill>
                <a:latin typeface="Segoe UI"/>
              </a:defRPr>
            </a:pPr>
            <a:r>
              <a:t>Unsere Engine übersetzt PHP-Code in eine saubere, hochperfekte und warnungsfreie .NET 8 Enterprise-Architektur.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645920"/>
            <a:ext cx="6126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✔  Moderne C# 10+ File-Scoped Namespaces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Keine tief verschachtelten Klammern mehr, dadurch vollständige Eliminierung von Namespace-Brace-Fehlern.</a:t>
            </a:r>
          </a:p>
          <a:p>
            <a:pPr>
              <a:spcAft>
                <a:spcPts val="4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✔  Automatische Syntax-Postprozessoren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Intelligente Python-Regex-Bereinigung korrigiert LLM-Flukes wie überflüssige Semicolons nach Property-Accessoren ({ get; set; };).</a:t>
            </a:r>
          </a:p>
          <a:p>
            <a:pPr>
              <a:spcAft>
                <a:spcPts val="4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✔  Strikte Schichtentrennung (CSR-Pattern)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Zerschneiden der Monolithen in Controller, Services mit DI und EF Core Repositories.</a:t>
            </a:r>
          </a:p>
          <a:p>
            <a:pPr>
              <a:spcAft>
                <a:spcPts val="4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✔  Asynchrone EF Core Transaktionen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Asynchrone Programmiermuster (async/await) mit robusten und sicheren DbContext-Transaktionen.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Wie es funktioniert: Der 3-Schritte-Ablauf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4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14B8A6"/>
                </a:solidFill>
                <a:latin typeface="Segoe UI"/>
              </a:defRPr>
            </a:pPr>
            <a:r>
              <a:t>1. Analyse (Intent)</a:t>
            </a:r>
          </a:p>
          <a:p>
            <a:pPr>
              <a:spcAft>
                <a:spcPts val="20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Die Engine liest alle PHP-Dateien ein, extrahiert die Geschäftsregeln und fasst die logische Absicht präzise zusammen.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PHP-Parsing • Intent-Extraktion • Logik-Zusammenfassung</a:t>
            </a:r>
            <a:br/>
            <a:br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2918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39" y="18288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0EA5E9"/>
                </a:solidFill>
                <a:latin typeface="Segoe UI"/>
              </a:defRPr>
            </a:pPr>
            <a:r>
              <a:t>2. Mapping &amp; Generierung</a:t>
            </a:r>
          </a:p>
          <a:p>
            <a:pPr>
              <a:spcAft>
                <a:spcPts val="20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Gemini 2.0 generiert C#-Code auf Basis des SQL-Schemas. Die Code-Generierung wird durch Postprozessoren syntaktisch gereinigt.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SQL Schema Abgleich • Datentyp-Mapping • Regex Post-Processing</a:t>
            </a:r>
            <a:br/>
            <a:br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2918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14B8A6"/>
                </a:solidFill>
                <a:latin typeface="Segoe UI"/>
              </a:defRPr>
            </a:pPr>
            <a:r>
              <a:t>3. Native Validierungs-Engine</a:t>
            </a:r>
          </a:p>
          <a:p>
            <a:pPr>
              <a:spcAft>
                <a:spcPts val="20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Automatische Erzeugung von nativen C# xUnit- und PHPUnit-Integrationstests zur exakten funktionalen Validierung der Endpunkte.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Native Integration Tests • Automatische Test-Ausführung • Äquivalenz-Matching</a:t>
            </a:r>
            <a:br/>
            <a:br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Die Hürden: LLM-Schwächen brechen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5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rPr dirty="0"/>
              <a:t>✗  API-</a:t>
            </a:r>
            <a:r>
              <a:rPr dirty="0" err="1"/>
              <a:t>Ausfälle</a:t>
            </a:r>
            <a:r>
              <a:rPr dirty="0"/>
              <a:t> &amp; </a:t>
            </a:r>
            <a:r>
              <a:rPr dirty="0" err="1"/>
              <a:t>Ratenlimits</a:t>
            </a:r>
            <a:r>
              <a:rPr dirty="0"/>
              <a:t> (429/503)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Gemini-Server </a:t>
            </a:r>
            <a:r>
              <a:rPr dirty="0" err="1"/>
              <a:t>blockieren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hoher</a:t>
            </a:r>
            <a:r>
              <a:rPr dirty="0"/>
              <a:t> Last. Die Free-Tier-</a:t>
            </a:r>
            <a:r>
              <a:rPr dirty="0" err="1"/>
              <a:t>Tageslimits</a:t>
            </a:r>
            <a:r>
              <a:rPr dirty="0"/>
              <a:t> für Gemini 3.5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extrem</a:t>
            </a:r>
            <a:r>
              <a:rPr dirty="0"/>
              <a:t> </a:t>
            </a:r>
            <a:r>
              <a:rPr dirty="0" err="1"/>
              <a:t>niedrig</a:t>
            </a:r>
            <a:r>
              <a:rPr lang="de-DE" dirty="0"/>
              <a:t>.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rPr dirty="0"/>
              <a:t>✗  </a:t>
            </a:r>
            <a:r>
              <a:rPr dirty="0" err="1"/>
              <a:t>Kompilier</a:t>
            </a:r>
            <a:r>
              <a:rPr dirty="0"/>
              <a:t>-Fallen (</a:t>
            </a:r>
            <a:r>
              <a:rPr dirty="0" err="1"/>
              <a:t>Klammern</a:t>
            </a:r>
            <a:r>
              <a:rPr dirty="0"/>
              <a:t> &amp; Semicolons)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Modelle </a:t>
            </a:r>
            <a:r>
              <a:rPr dirty="0" err="1"/>
              <a:t>generieren</a:t>
            </a:r>
            <a:r>
              <a:rPr dirty="0"/>
              <a:t> oft </a:t>
            </a:r>
            <a:r>
              <a:rPr dirty="0" err="1"/>
              <a:t>ungültige</a:t>
            </a:r>
            <a:r>
              <a:rPr dirty="0"/>
              <a:t> </a:t>
            </a:r>
            <a:r>
              <a:rPr dirty="0" err="1"/>
              <a:t>schließende</a:t>
            </a:r>
            <a:r>
              <a:rPr dirty="0"/>
              <a:t> </a:t>
            </a:r>
            <a:r>
              <a:rPr dirty="0" err="1"/>
              <a:t>Klammern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verbotene</a:t>
            </a:r>
            <a:r>
              <a:rPr dirty="0"/>
              <a:t> Semicolons </a:t>
            </a:r>
            <a:r>
              <a:rPr dirty="0" err="1"/>
              <a:t>nach</a:t>
            </a:r>
            <a:r>
              <a:rPr dirty="0"/>
              <a:t> { get; set; };.</a:t>
            </a:r>
            <a:endParaRPr lang="de-DE" dirty="0"/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rPr dirty="0"/>
              <a:t>✗  Static Endpoint-Routing-</a:t>
            </a:r>
            <a:r>
              <a:rPr dirty="0" err="1"/>
              <a:t>Schwächen</a:t>
            </a:r>
            <a:endParaRPr dirty="0"/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 err="1"/>
              <a:t>Einfache</a:t>
            </a:r>
            <a:r>
              <a:rPr dirty="0"/>
              <a:t> </a:t>
            </a:r>
            <a:r>
              <a:rPr dirty="0" err="1"/>
              <a:t>Heuristiken</a:t>
            </a:r>
            <a:r>
              <a:rPr dirty="0"/>
              <a:t> </a:t>
            </a:r>
            <a:r>
              <a:rPr dirty="0" err="1"/>
              <a:t>versagen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dynamischen</a:t>
            </a:r>
            <a:r>
              <a:rPr dirty="0"/>
              <a:t> </a:t>
            </a:r>
            <a:r>
              <a:rPr dirty="0" err="1"/>
              <a:t>Controllern</a:t>
            </a:r>
            <a:r>
              <a:rPr dirty="0"/>
              <a:t> und </a:t>
            </a:r>
            <a:r>
              <a:rPr dirty="0" err="1"/>
              <a:t>komplexen</a:t>
            </a:r>
            <a:r>
              <a:rPr dirty="0"/>
              <a:t> </a:t>
            </a:r>
            <a:r>
              <a:rPr dirty="0" err="1"/>
              <a:t>Relationen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✔  Modell-</a:t>
            </a:r>
            <a:r>
              <a:rPr dirty="0" err="1"/>
              <a:t>Wechsel</a:t>
            </a:r>
            <a:r>
              <a:rPr dirty="0"/>
              <a:t> auf 'gemini-2.0-flash'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 err="1"/>
              <a:t>Wechsel</a:t>
            </a:r>
            <a:r>
              <a:rPr dirty="0"/>
              <a:t> auf das stabile, </a:t>
            </a:r>
            <a:r>
              <a:rPr dirty="0" err="1"/>
              <a:t>hochverfügbare</a:t>
            </a:r>
            <a:r>
              <a:rPr dirty="0"/>
              <a:t> </a:t>
            </a:r>
            <a:r>
              <a:rPr dirty="0" err="1"/>
              <a:t>Produktionsmodell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separatem</a:t>
            </a:r>
            <a:r>
              <a:rPr dirty="0"/>
              <a:t>, </a:t>
            </a:r>
            <a:r>
              <a:rPr dirty="0" err="1"/>
              <a:t>hohem</a:t>
            </a:r>
            <a:r>
              <a:rPr dirty="0"/>
              <a:t> </a:t>
            </a:r>
            <a:r>
              <a:rPr dirty="0" err="1"/>
              <a:t>Kontingent</a:t>
            </a:r>
            <a:r>
              <a:rPr dirty="0"/>
              <a:t>.</a:t>
            </a:r>
          </a:p>
          <a:p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✔  Regex-Filter &amp; Syntax-Check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 err="1"/>
              <a:t>Integrieren</a:t>
            </a:r>
            <a:r>
              <a:rPr dirty="0"/>
              <a:t> von </a:t>
            </a:r>
            <a:r>
              <a:rPr dirty="0" err="1"/>
              <a:t>automatischer</a:t>
            </a:r>
            <a:r>
              <a:rPr dirty="0"/>
              <a:t> Regex-</a:t>
            </a:r>
            <a:r>
              <a:rPr dirty="0" err="1"/>
              <a:t>Bereinigung</a:t>
            </a:r>
            <a:r>
              <a:rPr dirty="0"/>
              <a:t> </a:t>
            </a:r>
            <a:r>
              <a:rPr dirty="0" err="1"/>
              <a:t>entfernt</a:t>
            </a:r>
            <a:r>
              <a:rPr dirty="0"/>
              <a:t> LLM-Syntax-Fehler </a:t>
            </a:r>
            <a:r>
              <a:rPr dirty="0" err="1"/>
              <a:t>vollautomatisch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 dem </a:t>
            </a:r>
            <a:r>
              <a:rPr dirty="0" err="1"/>
              <a:t>Schreiben</a:t>
            </a:r>
            <a:r>
              <a:rPr dirty="0"/>
              <a:t>.</a:t>
            </a:r>
          </a:p>
          <a:p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✔  </a:t>
            </a:r>
            <a:r>
              <a:rPr dirty="0" err="1"/>
              <a:t>Dynamisches</a:t>
            </a:r>
            <a:r>
              <a:rPr dirty="0"/>
              <a:t> AI Path Mapping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Die </a:t>
            </a:r>
            <a:r>
              <a:rPr dirty="0" err="1"/>
              <a:t>Validierungs</a:t>
            </a:r>
            <a:r>
              <a:rPr dirty="0"/>
              <a:t>-KI </a:t>
            </a:r>
            <a:r>
              <a:rPr dirty="0" err="1"/>
              <a:t>ordnet</a:t>
            </a:r>
            <a:r>
              <a:rPr dirty="0"/>
              <a:t> die C# und PHP API-Routen </a:t>
            </a:r>
            <a:r>
              <a:rPr dirty="0" err="1"/>
              <a:t>dynamisch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der </a:t>
            </a:r>
            <a:r>
              <a:rPr dirty="0" err="1"/>
              <a:t>Testgenerierung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Die Pipeline im Code: 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Die Magie in der Main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rPr dirty="0"/>
              <a:t>1. Schema laden: SQL-</a:t>
            </a:r>
            <a:r>
              <a:rPr dirty="0" err="1"/>
              <a:t>Zieldatenbankschema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Strukturierung</a:t>
            </a:r>
            <a:r>
              <a:rPr dirty="0"/>
              <a:t> </a:t>
            </a:r>
            <a:r>
              <a:rPr dirty="0" err="1"/>
              <a:t>geladen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rPr dirty="0"/>
              <a:t>2. Migration </a:t>
            </a:r>
            <a:r>
              <a:rPr dirty="0" err="1"/>
              <a:t>ausführen</a:t>
            </a:r>
            <a:r>
              <a:rPr dirty="0"/>
              <a:t>: </a:t>
            </a:r>
            <a:r>
              <a:rPr dirty="0" err="1"/>
              <a:t>Analyse</a:t>
            </a:r>
            <a:r>
              <a:rPr dirty="0"/>
              <a:t>, Code-</a:t>
            </a:r>
            <a:r>
              <a:rPr dirty="0" err="1"/>
              <a:t>Generierung</a:t>
            </a:r>
            <a:r>
              <a:rPr dirty="0"/>
              <a:t> und Syntax-</a:t>
            </a:r>
            <a:r>
              <a:rPr dirty="0" err="1"/>
              <a:t>Bereinigung</a:t>
            </a:r>
            <a:r>
              <a:rPr dirty="0"/>
              <a:t> </a:t>
            </a:r>
            <a:r>
              <a:rPr dirty="0" err="1"/>
              <a:t>laufen</a:t>
            </a:r>
            <a:r>
              <a:rPr dirty="0"/>
              <a:t> </a:t>
            </a:r>
            <a:r>
              <a:rPr dirty="0" err="1"/>
              <a:t>vollautomatisch</a:t>
            </a:r>
            <a:r>
              <a:rPr dirty="0"/>
              <a:t> ab.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rPr dirty="0"/>
              <a:t>3. Test-</a:t>
            </a:r>
            <a:r>
              <a:rPr dirty="0" err="1"/>
              <a:t>Generierung</a:t>
            </a:r>
            <a:r>
              <a:rPr dirty="0"/>
              <a:t>: Die KI </a:t>
            </a:r>
            <a:r>
              <a:rPr dirty="0" err="1"/>
              <a:t>erzeugt</a:t>
            </a:r>
            <a:r>
              <a:rPr dirty="0"/>
              <a:t> native C# und PHP Test-</a:t>
            </a:r>
            <a:r>
              <a:rPr dirty="0" err="1"/>
              <a:t>Suiten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rPr dirty="0"/>
              <a:t>4. </a:t>
            </a:r>
            <a:r>
              <a:rPr dirty="0" err="1"/>
              <a:t>Validierung</a:t>
            </a:r>
            <a:r>
              <a:rPr dirty="0"/>
              <a:t>: </a:t>
            </a:r>
            <a:r>
              <a:rPr dirty="0" err="1"/>
              <a:t>PHPUnit</a:t>
            </a:r>
            <a:r>
              <a:rPr dirty="0"/>
              <a:t> und </a:t>
            </a:r>
            <a:r>
              <a:rPr dirty="0" err="1"/>
              <a:t>xUnit</a:t>
            </a:r>
            <a:r>
              <a:rPr dirty="0"/>
              <a:t> </a:t>
            </a:r>
            <a:r>
              <a:rPr dirty="0" err="1"/>
              <a:t>prüfen</a:t>
            </a:r>
            <a:r>
              <a:rPr dirty="0"/>
              <a:t> die </a:t>
            </a:r>
            <a:r>
              <a:rPr dirty="0" err="1"/>
              <a:t>funktionale</a:t>
            </a:r>
            <a:r>
              <a:rPr dirty="0"/>
              <a:t> </a:t>
            </a:r>
            <a:r>
              <a:rPr dirty="0" err="1"/>
              <a:t>Äquivalenz</a:t>
            </a:r>
            <a:r>
              <a:rPr dirty="0"/>
              <a:t> (200 OK &amp; </a:t>
            </a:r>
            <a:r>
              <a:rPr dirty="0" err="1"/>
              <a:t>gleiche</a:t>
            </a:r>
            <a:r>
              <a:rPr dirty="0"/>
              <a:t> Response-</a:t>
            </a:r>
            <a:r>
              <a:rPr dirty="0" err="1"/>
              <a:t>Daten</a:t>
            </a:r>
            <a:r>
              <a:rPr dirty="0"/>
              <a:t>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32560"/>
            <a:ext cx="6126480" cy="4498848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74151"/>
            </a:solidFill>
            <a:beve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86400" y="178308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15000" y="17830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3600" y="17830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7232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rPr dirty="0"/>
              <a:t>main.py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03120"/>
            <a:ext cx="5760720" cy="40370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ADE80"/>
                </a:solidFill>
                <a:latin typeface="Consolas"/>
              </a:defRPr>
            </a:pPr>
            <a:r>
              <a:rPr dirty="0">
                <a:solidFill>
                  <a:srgbClr val="00B050"/>
                </a:solidFill>
              </a:rPr>
              <a:t># 1. </a:t>
            </a:r>
            <a:r>
              <a:rPr dirty="0" err="1">
                <a:solidFill>
                  <a:srgbClr val="00B050"/>
                </a:solidFill>
              </a:rPr>
              <a:t>Datenbank</a:t>
            </a:r>
            <a:r>
              <a:rPr dirty="0">
                <a:solidFill>
                  <a:srgbClr val="00B050"/>
                </a:solidFill>
              </a:rPr>
              <a:t>-Schema laden &amp; Migration </a:t>
            </a:r>
            <a:r>
              <a:rPr dirty="0" err="1">
                <a:solidFill>
                  <a:srgbClr val="00B050"/>
                </a:solidFill>
              </a:rPr>
              <a:t>starten</a:t>
            </a:r>
            <a:endParaRPr dirty="0">
              <a:solidFill>
                <a:srgbClr val="00B050"/>
              </a:solidFill>
            </a:endParaR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/>
              <a:t>result = </a:t>
            </a:r>
            <a:r>
              <a:rPr dirty="0" err="1"/>
              <a:t>engine.run_migration</a:t>
            </a:r>
            <a:r>
              <a:rPr dirty="0"/>
              <a:t>(</a:t>
            </a:r>
            <a:r>
              <a:rPr dirty="0" err="1"/>
              <a:t>php_codes</a:t>
            </a:r>
            <a:r>
              <a:rPr dirty="0"/>
              <a:t>, </a:t>
            </a:r>
            <a:r>
              <a:rPr dirty="0" err="1"/>
              <a:t>sql_schema</a:t>
            </a:r>
            <a:r>
              <a:rPr dirty="0"/>
              <a:t>=</a:t>
            </a:r>
            <a:r>
              <a:rPr dirty="0" err="1"/>
              <a:t>sql_schema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endParaRPr dirty="0">
              <a:solidFill>
                <a:srgbClr val="00B050"/>
              </a:solidFill>
            </a:endParaR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>
                <a:solidFill>
                  <a:srgbClr val="00B050"/>
                </a:solidFill>
              </a:rPr>
              <a:t># 2. C#-</a:t>
            </a:r>
            <a:r>
              <a:rPr dirty="0" err="1">
                <a:solidFill>
                  <a:srgbClr val="00B050"/>
                </a:solidFill>
              </a:rPr>
              <a:t>Projektcode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erzeugen</a:t>
            </a:r>
            <a:r>
              <a:rPr dirty="0">
                <a:solidFill>
                  <a:srgbClr val="00B050"/>
                </a:solidFill>
              </a:rPr>
              <a:t> &amp; Regex-</a:t>
            </a:r>
            <a:r>
              <a:rPr dirty="0" err="1">
                <a:solidFill>
                  <a:srgbClr val="00B050"/>
                </a:solidFill>
              </a:rPr>
              <a:t>bereinigen</a:t>
            </a:r>
            <a:endParaRPr dirty="0">
              <a:solidFill>
                <a:srgbClr val="00B050"/>
              </a:solidFill>
            </a:endParaR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generator.write_generated_code</a:t>
            </a:r>
            <a:r>
              <a:rPr dirty="0"/>
              <a:t>(result)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4ADE80"/>
                </a:solidFill>
                <a:latin typeface="Consolas"/>
              </a:defRPr>
            </a:pPr>
            <a:r>
              <a:rPr dirty="0">
                <a:solidFill>
                  <a:srgbClr val="00B050"/>
                </a:solidFill>
              </a:rPr>
              <a:t># 3. Native </a:t>
            </a:r>
            <a:r>
              <a:rPr dirty="0" err="1">
                <a:solidFill>
                  <a:srgbClr val="00B050"/>
                </a:solidFill>
              </a:rPr>
              <a:t>xUnit</a:t>
            </a:r>
            <a:r>
              <a:rPr dirty="0">
                <a:solidFill>
                  <a:srgbClr val="00B050"/>
                </a:solidFill>
              </a:rPr>
              <a:t> &amp; </a:t>
            </a:r>
            <a:r>
              <a:rPr dirty="0" err="1">
                <a:solidFill>
                  <a:srgbClr val="00B050"/>
                </a:solidFill>
              </a:rPr>
              <a:t>PHPUnit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Integrationstests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generieren</a:t>
            </a:r>
            <a:endParaRPr dirty="0">
              <a:solidFill>
                <a:srgbClr val="00B050"/>
              </a:solidFill>
            </a:endParaR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test_cases</a:t>
            </a:r>
            <a:r>
              <a:rPr dirty="0"/>
              <a:t> = </a:t>
            </a:r>
            <a:r>
              <a:rPr dirty="0" err="1"/>
              <a:t>test_gen.generate_test_cases</a:t>
            </a:r>
            <a:r>
              <a:rPr dirty="0"/>
              <a:t>(</a:t>
            </a:r>
            <a:r>
              <a:rPr dirty="0" err="1"/>
              <a:t>combined_php</a:t>
            </a:r>
            <a:r>
              <a:rPr dirty="0"/>
              <a:t>, result)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test_code_gen.generate_native_test_files</a:t>
            </a:r>
            <a:r>
              <a:rPr dirty="0"/>
              <a:t>(</a:t>
            </a:r>
            <a:r>
              <a:rPr dirty="0" err="1"/>
              <a:t>test_cases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4ADE80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>
                <a:solidFill>
                  <a:srgbClr val="00B050"/>
                </a:solidFill>
              </a:rPr>
              <a:t># 4. </a:t>
            </a:r>
            <a:r>
              <a:rPr dirty="0" err="1">
                <a:solidFill>
                  <a:srgbClr val="00B050"/>
                </a:solidFill>
              </a:rPr>
              <a:t>Validierungslauf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starten</a:t>
            </a:r>
            <a:r>
              <a:rPr dirty="0">
                <a:solidFill>
                  <a:srgbClr val="00B050"/>
                </a:solidFill>
              </a:rPr>
              <a:t> &amp; </a:t>
            </a:r>
            <a:r>
              <a:rPr dirty="0" err="1">
                <a:solidFill>
                  <a:srgbClr val="00B050"/>
                </a:solidFill>
              </a:rPr>
              <a:t>vergleichen</a:t>
            </a:r>
            <a:endParaRPr dirty="0">
              <a:solidFill>
                <a:srgbClr val="00B050"/>
              </a:solidFill>
            </a:endParaR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/>
              <a:t>report = </a:t>
            </a:r>
            <a:r>
              <a:rPr dirty="0" err="1"/>
              <a:t>validator.run_and_compare</a:t>
            </a:r>
            <a:r>
              <a:rPr dirty="0"/>
              <a:t>(</a:t>
            </a:r>
            <a:r>
              <a:rPr dirty="0" err="1"/>
              <a:t>test_cases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FACC15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4ADE80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Das Ergebnis: ERP PHP vs. ASP.NET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7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EF4444"/>
                </a:solidFill>
                <a:latin typeface="Segoe UI"/>
              </a:defRPr>
            </a:pPr>
            <a:r>
              <a:t>Alt: PHP-Spaghetti (Monolith)</a:t>
            </a:r>
          </a:p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✗  Wilde Verknüpfung von HTML &amp; Logik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HTML-Dashboard, Bestandsverwaltung und Order-Logik vermischen sich chaotisch.</a:t>
            </a:r>
          </a:p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✗  Hohes SQL-Sicherheitsrisiko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Rohe SQL-Queries im Code machen das System anfällig für SQL-Injection.</a:t>
            </a:r>
          </a:p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✗  Keine Typensicherheit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Variablen können spontan den Typ wechseln. Typ-Fehler fallen erst beim Kunden zur Laufzeit auf.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Neu: Modernes C# (ASP.NET Core)</a:t>
            </a:r>
          </a:p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Saubere 3-Schichten-Architektur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Controllers, Services und Repositories trennen Zuständigkeiten nach Enterprise-Standard.</a:t>
            </a:r>
          </a:p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Syntaktisch bereinigte Codebasis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File-Scoped Namespaces verhindern Verschachtelungsfehler, Regex-Bereinigung sichert 100% Kompilierbarkeit.</a:t>
            </a:r>
          </a:p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✔  Cross-Language Native Test-Suiten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Native Test-Dateien prüfen funktionale Gleichheit vollautomatisch mit 100% Verlässlichkeit.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Segoe UI"/>
              </a:defRPr>
            </a:pPr>
            <a:r>
              <a:t>Fazit: Die Zukunft der Code-Migration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Folie 8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1. 100% Produktionsreife durch Post-Check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Reine KI-Generierung reicht nicht. Erst durch explizite SQL-Schemata, Compiler-Prüfungen und Regex-Postprozessoren wird generierter Code produktionsreif.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Validierung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Kernkomponente</a:t>
            </a:r>
            <a:endParaRPr dirty="0"/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Die native Cross-Language Test-Engine </a:t>
            </a:r>
            <a:r>
              <a:rPr dirty="0" err="1"/>
              <a:t>sichert</a:t>
            </a:r>
            <a:r>
              <a:rPr dirty="0"/>
              <a:t> die </a:t>
            </a:r>
            <a:r>
              <a:rPr dirty="0" err="1"/>
              <a:t>Geschäftslogik</a:t>
            </a:r>
            <a:r>
              <a:rPr dirty="0"/>
              <a:t> ab und </a:t>
            </a:r>
            <a:r>
              <a:rPr dirty="0" err="1"/>
              <a:t>deckt</a:t>
            </a:r>
            <a:r>
              <a:rPr dirty="0"/>
              <a:t> </a:t>
            </a:r>
            <a:r>
              <a:rPr dirty="0" err="1"/>
              <a:t>Abweichungen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PHP-Original und C#-Migration </a:t>
            </a:r>
            <a:r>
              <a:rPr dirty="0" err="1"/>
              <a:t>sofort</a:t>
            </a:r>
            <a:r>
              <a:rPr dirty="0"/>
              <a:t> auf.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3. Prompts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echte</a:t>
            </a:r>
            <a:r>
              <a:rPr dirty="0"/>
              <a:t> Software-</a:t>
            </a:r>
            <a:r>
              <a:rPr dirty="0" err="1"/>
              <a:t>Architektur</a:t>
            </a:r>
            <a:endParaRPr dirty="0"/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 err="1"/>
              <a:t>Präzise</a:t>
            </a:r>
            <a:r>
              <a:rPr dirty="0"/>
              <a:t> </a:t>
            </a:r>
            <a:r>
              <a:rPr dirty="0" err="1"/>
              <a:t>Architekturrichtlinien</a:t>
            </a:r>
            <a:r>
              <a:rPr dirty="0"/>
              <a:t> (DI, Async, File-Scoped Namespaces) </a:t>
            </a:r>
            <a:r>
              <a:rPr dirty="0" err="1"/>
              <a:t>im</a:t>
            </a:r>
            <a:r>
              <a:rPr dirty="0"/>
              <a:t> Prompt </a:t>
            </a:r>
            <a:r>
              <a:rPr dirty="0" err="1"/>
              <a:t>entscheiden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die </a:t>
            </a:r>
            <a:r>
              <a:rPr dirty="0" err="1"/>
              <a:t>Qualität</a:t>
            </a:r>
            <a:r>
              <a:rPr dirty="0"/>
              <a:t> der Migration.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7548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Fragen</a:t>
            </a:r>
            <a:r>
              <a:rPr dirty="0"/>
              <a:t> &amp; </a:t>
            </a:r>
            <a:r>
              <a:rPr dirty="0" err="1"/>
              <a:t>Diskussion</a:t>
            </a:r>
            <a:endParaRPr dirty="0"/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Vielen</a:t>
            </a:r>
            <a:r>
              <a:rPr dirty="0"/>
              <a:t> Dank für </a:t>
            </a:r>
            <a:r>
              <a:rPr dirty="0" err="1"/>
              <a:t>eure</a:t>
            </a:r>
            <a:r>
              <a:rPr dirty="0"/>
              <a:t> </a:t>
            </a:r>
            <a:r>
              <a:rPr dirty="0" err="1"/>
              <a:t>Aufmerksamkeit</a:t>
            </a:r>
            <a:r>
              <a:rPr dirty="0"/>
              <a:t>! Wir </a:t>
            </a:r>
            <a:r>
              <a:rPr dirty="0" err="1"/>
              <a:t>freuen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auf </a:t>
            </a:r>
            <a:r>
              <a:rPr dirty="0" err="1"/>
              <a:t>eure</a:t>
            </a:r>
            <a:r>
              <a:rPr dirty="0"/>
              <a:t> </a:t>
            </a:r>
            <a:r>
              <a:rPr dirty="0" err="1"/>
              <a:t>Fragen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WebLegacy</a:t>
            </a:r>
            <a:r>
              <a:rPr dirty="0"/>
              <a:t> AI</a:t>
            </a:r>
            <a:r>
              <a:rPr lang="de-DE" dirty="0"/>
              <a:t>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2548</Words>
  <Application>Microsoft Office PowerPoint</Application>
  <PresentationFormat>Breitbild</PresentationFormat>
  <Paragraphs>212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13</cp:revision>
  <dcterms:created xsi:type="dcterms:W3CDTF">2013-01-27T09:14:16Z</dcterms:created>
  <dcterms:modified xsi:type="dcterms:W3CDTF">2026-05-27T19:03:15Z</dcterms:modified>
  <cp:category/>
</cp:coreProperties>
</file>