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Aldin &amp; Amadin | Dauer: ca. 1.5 - 2 Minuten</a:t>
            </a:r>
          </a:p>
          <a:p/>
          <a:p>
            <a:r>
              <a:t>=== SPRECHTEXT ===</a:t>
            </a:r>
          </a:p>
          <a:p/>
          <a:p>
            <a:r>
              <a:t>Hallo zusammen! Herzlich willkommen zu unserer Projektvorstellung von 'WebLegacy AI'. In den nächsten 18 Minuten möchten wir euch durch unser Projekt führen, das wir im Rahmen des KIS4-Kurses (AI-Assisted Software Engineering) entwickelt haben.</a:t>
            </a:r>
          </a:p>
          <a:p/>
          <a:p>
            <a:r>
              <a:t>Unser Ziel mit WebLegacy AI war es, eine smarte Brücke von der alten Web-Welt in die moderne Unternehmens-Software-Architektur zu schlagen. Konkret geht es um die vollautomatische Migration von veraltetem PHP-Code in eine hochmoderne, sichere C# / ASP.NET Core Umgebung.</a:t>
            </a:r>
          </a:p>
          <a:p/>
          <a:p>
            <a:r>
              <a:t>Dabei ging es uns von Anfang an nicht um ein stumpfes 1:1 Übersetzen von Worten, sondern um ein echtes Re-Engineering der Anwendungsarchitektur. Wie wir das geschafft haben, welche dicken Brocken wir aus dem Weg räumen mussten und wie wir die Gemini-KI als intelligenten Co-Piloten eingesetzt haben, zeigen wir euch jetzt.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Aldin &amp; Amadin | Dauer: ca. 2.5 - 3 Minuten</a:t>
            </a:r>
          </a:p>
          <a:p/>
          <a:p>
            <a:r>
              <a:t>=== SPRECHTEXT ===</a:t>
            </a:r>
          </a:p>
          <a:p/>
          <a:p>
            <a:r>
              <a:t>Lasst uns mit dem Kernproblem anfangen, das wir alle aus dem Entwickleralltag kennen: Dem 'Legacy-Dilemma'. Viele Webseiten und Systeme weltweit laufen immer noch auf alten PHP-Versionen.</a:t>
            </a:r>
          </a:p>
          <a:p/>
          <a:p>
            <a:r>
              <a:t>Und das bringt massive Hürden mit sich. Als erstes haben wir da den berühmt-berüchtigten Spaghetti-Code. Im PHP der alten Schule war es völlig normal, HTML-Elemente für die Anzeige, Berechnungslogik und MySQL-Datenbankabfragen direkt in eine einzige Datei zu werfen.</a:t>
            </a:r>
          </a:p>
          <a:p/>
          <a:p>
            <a:r>
              <a:t>Für einen jungen Entwickler, der das heute warten soll, ist das ein Albtraum. Man blickt einfach nicht durch, wo die Logik endet und das Design anfängt.</a:t>
            </a:r>
          </a:p>
          <a:p/>
          <a:p>
            <a:r>
              <a:t>Dazu kommt: Es gibt in diesem PHP-Code keine Typensicherheit. Wenn wir beispielsweise eine Variable '$result' haben, wissen wir nicht, ob es ein DB-Objekt, ein Array oder 'false' wegen eines Fehlers ist. Der Compiler kann uns hier nicht helfen, da PHP eine dynamische Sprache ist. Fehler fliegen uns also erst direkt beim Kunden zur Laufzeit um die Ohren.</a:t>
            </a:r>
          </a:p>
          <a:p/>
          <a:p>
            <a:r>
              <a:t>Ein weiteres großes Sicherheitsrisiko sind rohe SQL-Abfragen, die oft direkt per String-Konkatenation zusammengesetzt werden (z. B. 'SELECT * FROM users WHERE id = ' . $_GET['id']). Das ist eine Einladung für SQL-Injections, vor denen uns moderne C#-Frameworks mit ihren standardmäßig parametrisierten ORMs sofort schützen.</a:t>
            </a:r>
          </a:p>
          <a:p/>
          <a:p>
            <a:r>
              <a:t>Und all diese Punkte führen direkt in die Wartungs-Hölle. Man ändert eine Codezeile links oben und plötzlich bricht das System rechts unten zusammen. Das wollen wir beheben!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Aldin &amp; Amadin | Dauer: ca. 2 Minuten</a:t>
            </a:r>
          </a:p>
          <a:p/>
          <a:p>
            <a:r>
              <a:t>=== SPRECHTEXT ===</a:t>
            </a:r>
          </a:p>
          <a:p/>
          <a:p>
            <a:r>
              <a:t>Jetzt kommen wir zu unserer grundlegenden Philosophie und Vision für dieses Projekt.</a:t>
            </a:r>
          </a:p>
          <a:p/>
          <a:p>
            <a:r>
              <a:t>Es gibt da eine ganz wichtige Erkenntnis, die wir als goldene Regel aufgestellt haben: 'Wer Spaghetti-PHP-Code einfach 1:1 übersetzt, hat am Ende nichts gewonnen – man hat dann nur C#-Spaghetti-Code!' Das wollten wir unter allen Umständen vermeiden.</a:t>
            </a:r>
          </a:p>
          <a:p/>
          <a:p>
            <a:r>
              <a:t>C# ist eine unglaublich elegante, ausdrucksstarke und streng typisierte Sprache. Wenn wir den alten PHP-Code einfach Wort für Wort portieren, werfen wir alle Vorteile von C# direkt über Bord.</a:t>
            </a:r>
          </a:p>
          <a:p/>
          <a:p>
            <a:r>
              <a:t>Unsere Vision war es daher, der KI beizubringen, wie ein echter Softwarearchitekt zu denken. Die Engine liest den PHP-Code und fragt sich als Erstes: 'Was ist die eigentliche Absicht, also der Business Intent dieses Codes?'</a:t>
            </a:r>
          </a:p>
          <a:p/>
          <a:p>
            <a:r>
              <a:t>Auf dieser Basis modernisieren wir die Architektur. Aus dem PHP-Monolithen wird eine saubere Dreischicht-Architektur. Das heißt: Wir trennen den Einstiegspunkt (den API-Controller) von der eigentlichen Logik (dem Service) und der Datenbankkommunikation (dem Repository).</a:t>
            </a:r>
          </a:p>
          <a:p/>
          <a:p>
            <a:r>
              <a:t>Wir nutzen die modernen C#-Konzepte, die man als Junior-Entwickler lernen muss: Dependency Injection, asynchrone Operationen mit 'async' und 'await' für optimale Performance, und Entity Framework Core statt rohem SQL-Text.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Aldin &amp; Amadin | Dauer: ca. 2.5 - 3 Minuten</a:t>
            </a:r>
          </a:p>
          <a:p/>
          <a:p>
            <a:r>
              <a:t>=== SPRECHTEXT ===</a:t>
            </a:r>
          </a:p>
          <a:p/>
          <a:p>
            <a:r>
              <a:t>Um das Ganze greifbar zu machen: Wie läuft dieser Modernisierungs-Prozess bei uns unter der Haube ab? Wir haben das System in drei aufeinanderfolgende, logische Phasen aufgeteilt.</a:t>
            </a:r>
          </a:p>
          <a:p/>
          <a:p>
            <a:r>
              <a:t>Phase 1 ist die Analyse. Unser Tool (geschrieben in Python) liest den rohen PHP-Code ein. Wir nutzen dann das extrem leistungsstarke Gemini-Modell von Google. Das Modell bekommt den PHP-Code und extrahiert den Kern. Das Modell liefert uns ein strukturiertes JSON-Dokument zurück, in dem genau steht: 'Diese Datei macht logisch folgendes... sie erwartet diese Eingaben und gibt jene Ausgaben zurück'.</a:t>
            </a:r>
          </a:p>
          <a:p/>
          <a:p>
            <a:r>
              <a:t>Phase 2 ist das Mapping. Nun geht es ans Eingemachte. Wir wissen jetzt, was der Code tun soll. Jetzt müssen wir die Brücke nach C# bauen. Die KI ordnet die Datentypen zu und übersetzt beispielsweise veraltete Tabellenabfragen in C#-Entitäten. Hier legen wir fest, wie die neue Ziel-Architektur strukturiert sein soll, damit alles dem Controller-Service-Repository-Muster folgt.</a:t>
            </a:r>
          </a:p>
          <a:p/>
          <a:p>
            <a:r>
              <a:t>Phase 3 ist schließlich die Generierung und Verfeinerung (Refinement). Aus den Mapping-Plänen erzeugt unsere Engine die physischen C#-Dateien und die gesamte Verzeichnisstruktur eines lauffähigen ASP.NET Projekts.</a:t>
            </a:r>
          </a:p>
          <a:p/>
          <a:p>
            <a:r>
              <a:t>Zum Schluss läuft die KI noch einmal im 'Refinement-Modus' über den frisch generierten C#-Code, um unschöne Übersetzungsreste zu entfernen, Kommentare hinzuzufügen und sicherzustellen, dass die Formatierung perfekt zu modernen C#-Konventionen passt.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Aldin &amp; Amadin | Dauer: ca. 2.5 - 3 Minuten</a:t>
            </a:r>
          </a:p>
          <a:p/>
          <a:p>
            <a:r>
              <a:t>=== SPRECHTEXT ===</a:t>
            </a:r>
          </a:p>
          <a:p/>
          <a:p>
            <a:r>
              <a:t>In der Theorie klingt KI-gestützte Entwicklung immer magisch und perfekt. In der echten Praxis stößt man als Entwickler jedoch schnell auf harte Hürden. Das war bei uns nicht anders, und diese Erfahrungen sind extrem lehrreich.</a:t>
            </a:r>
          </a:p>
          <a:p/>
          <a:p>
            <a:r>
              <a:t>Unser erstes großes Problem war der berüchtigte HTTP-Fehler 503 Service Unavailable. Da Google Gemini extrem beliebt ist, kommt es unter hoher Auslastung zu Server-Spikes. In solchen Momenten blockiert die API einfach und wirft Fehler.</a:t>
            </a:r>
          </a:p>
          <a:p/>
          <a:p>
            <a:r>
              <a:t>Unsere Lösung dafür war zweigeteilt: Wir haben erstens im Code ein Retry-Handling eingebaut. Das heißt, wenn das Skript merkt, dass die API blockiert ist, schläft das Skript kurz für einige Sekunden und versucht es danach automatisch noch einmal. Zweitens haben wir das System flexibel gehalten, sodass wir in der 'src/utils/gemini_client.py'-Konfigurationsdatei schnell auf hochverfügbare, neuere Modelle wie 'gemini-2.5-flash' oder 'gemini-2.0-flash' umschalten konnten, welche seltener überlastet sind.</a:t>
            </a:r>
          </a:p>
          <a:p/>
          <a:p>
            <a:r>
              <a:t>Eine weitere Hürde waren die Kontextgrenzen (Context Limits) der KI. Wenn man versucht, ein großes, über Jahre gewachsenes PHP-Projekt auf einmal in ein Prompt zu werfen, verliert die KI den Faden. Sie vergisst Variablen, verwechselt Funktionen und generiert unbrauchbaren Code.</a:t>
            </a:r>
          </a:p>
          <a:p/>
          <a:p>
            <a:r>
              <a:t>Unsere Lösung: Intelligentes Code-Chunking. Wir haben unsere Engine so programmiert, dass sie das PHP-Projekt in kleine, logisch zusammenhängende Stücke schneidet (z. B. einzelne Klassen, Datei für Datei). Die KI verarbeitet diese isoliert und unsere Engine setzt die Ergebnisse anschließend wieder zu einem großen C#-Projekt zusammen.</a:t>
            </a:r>
          </a:p>
          <a:p/>
          <a:p>
            <a:r>
              <a:t>Das zeigt: Die Intelligenz liegt nicht nur in der KI, sondern vor allem in der intelligenten Orchestrierung durch unser Tooling!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Aldin &amp; Amadin | Dauer: ca. 2.5 - 3 Minuten</a:t>
            </a:r>
          </a:p>
          <a:p/>
          <a:p>
            <a:r>
              <a:t>=== SPRECHTEXT ===</a:t>
            </a:r>
          </a:p>
          <a:p/>
          <a:p>
            <a:r>
              <a:t>Für jeden jungen Entwickler, der neu in das Thema KI einsteigt, ist es wichtig zu verstehen: Wie kompliziert ist das eigentlich in der Umsetzung? Die Antwort lautet: Es ist heutzutage dank moderner Bibliotheken extrem einfach geworden.</a:t>
            </a:r>
          </a:p>
          <a:p/>
          <a:p>
            <a:r>
              <a:t>Auf dieser Folie sehen wir ein voll funktionsfähiges, minimales Python-Beispiel mit dem nagelneuen Google GenAI SDK.</a:t>
            </a:r>
          </a:p>
          <a:p/>
          <a:p>
            <a:r>
              <a:t>Schauen wir uns den Code Schritt für Schritt an.</a:t>
            </a:r>
          </a:p>
          <a:p/>
          <a:p>
            <a:r>
              <a:t>In Zeile 1 importieren wir einfach das 'genai'-Modul von Google. In Schritt 1 initialisieren wir den 'Client'. Dieser Client baut die Verbindung zu den Google-Servern auf. Wir müssen ihm lediglich unseren API-Key übergeben, den wir aus einer Umgebungsvariable auslesen.</a:t>
            </a:r>
          </a:p>
          <a:p/>
          <a:p>
            <a:r>
              <a:t>In Schritt 2 definieren wir unseren 'prompt'. Ein Prompt ist nichts anderes als die Frage oder die Anweisung in natürlicher Sprache an die KI – z. B. 'Lies diesen PHP-Code und übersetze ihn strukturiert in C#'.</a:t>
            </a:r>
          </a:p>
          <a:p/>
          <a:p>
            <a:r>
              <a:t>In Schritt 3 führen wir den eigentlichen API-Aufruf aus. Das geht über die Methode 'client.models.generate_content'. Hier geben wir zwei Dinge an: Zum einen das genutzte Modell (wir nutzen hier 'gemini-2.5-flash', weil es unglaublich schnell und robust ist) und zum anderen unseren Prompt.</a:t>
            </a:r>
          </a:p>
          <a:p/>
          <a:p>
            <a:r>
              <a:t>Die API verarbeitet die Anfrage und liefert das Ergebnis zurück. In Schritt 4 können wir dann einfach auf 'response.text' zugreifen. Hier steht die fertige C#-Klasse als formatierter Text drin. Den müssen wir nur noch in eine Datei schreiben.</a:t>
            </a:r>
          </a:p>
          <a:p/>
          <a:p>
            <a:r>
              <a:t>Das ist alles! Kein komplexes HTTP-Header-Management, keine rohen Netzwerk-Requests. Das SDK nimmt uns alles 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Aldin &amp; Amadin | Dauer: ca. 2 Minuten</a:t>
            </a:r>
          </a:p>
          <a:p/>
          <a:p>
            <a:r>
              <a:t>=== SPRECHTEXT ===</a:t>
            </a:r>
          </a:p>
          <a:p/>
          <a:p>
            <a:r>
              <a:t>Jetzt, wo wir die Theorie und den API-Aufruf verstanden haben, lasst uns das konkrete Resultat gegenüberstellen: Das 'Vorher' gegen das 'Nachher'.</a:t>
            </a:r>
          </a:p>
          <a:p/>
          <a:p>
            <a:r>
              <a:t>Auf der linken Seite sehen wir unsere Ausgangssituation im PHP-Monolithen: spaghetti-artiger Code. HTML ist mit Logik vermischt, SQL-Befehle werden direkt als Strings an die Datenbank geschickt – ein offenes Tor für Sicherheitslücken. Zudem gibt es keine Typensicherheit, wodurch Fehler erst auffallen, wenn die Software schon läuft.</a:t>
            </a:r>
          </a:p>
          <a:p/>
          <a:p>
            <a:r>
              <a:t>Auf der rechten Seite sehen wir das stolze Ergebnis unserer Migration: Modernes C# in einer sauberen ASP.NET Core Web-API.</a:t>
            </a:r>
          </a:p>
          <a:p/>
          <a:p>
            <a:r>
              <a:t>Wir haben eine glasklare Architektur. Die Schichten sind getrennt, was den Code extrem erweiterbar macht. Wenn wir die Datenbank wechseln wollen, passen wir nur das Repository an, der Rest des Programms bleibt unverändert.</a:t>
            </a:r>
          </a:p>
          <a:p/>
          <a:p>
            <a:r>
              <a:t>Dank Entity Framework Core nutzen wir ein modernes ORM. Das heißt: Wir programmieren mit C#-Klassen und EF übersetzt das sicher und automatisch in performante Datenbank-Queries. Keine SQL-Injections mehr!</a:t>
            </a:r>
          </a:p>
          <a:p/>
          <a:p>
            <a:r>
              <a:t>Und das Wichtigste für uns Entwickler: C# ist strikt typisiert. Wenn wir versuchen, einer Zahl einen Text zuzuweisen, bricht der Compiler sofort ab und zeigt uns genau, wo der Fehler liegt. Wir sparen uns stundenlanges Suchen im Live-System.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Aldin &amp; Amadin | Dauer: ca. 1.5 - 2 Minuten</a:t>
            </a:r>
          </a:p>
          <a:p/>
          <a:p>
            <a:r>
              <a:t>=== SPRECHTEXT ===</a:t>
            </a:r>
          </a:p>
          <a:p/>
          <a:p>
            <a:r>
              <a:t>Kommen wir zum Fazit unserer KIS4-Reise mit 'WebLegacy AI'. Was nehmen wir als Entwickler aus diesem anspruchsvollen Projekt mit?</a:t>
            </a:r>
          </a:p>
          <a:p/>
          <a:p>
            <a:r>
              <a:t>Erstens: Die KI gibt uns Entwicklern echte Superkräfte. Sie wird uns nicht ersetzen, aber sie nimmt uns die stupfe Fleißarbeit ab – wie z. B. das manuelle Schreiben von Boilerplate-Klassen, Dependency Injection Konfigurationen oder DTO-Definitionen. Wir können unsere Zeit stattdessen nutzen, um über die eigentliche Architektur, Skalierbarkeit und logische Abläufe nachzudenken.</a:t>
            </a:r>
          </a:p>
          <a:p/>
          <a:p>
            <a:r>
              <a:t>Zweitens: Prompts sind der neue Code. Die Qualität der generierten C#-Dateien steht und fällt mit der Qualität unserer Anweisungen an die Gemini-API. Wir mussten lernen, präzise und unmissverständlich zu formulieren. Prompt-Engineering ist somit ein echter, neuer Skill in unserem Werkzeugkasten.</a:t>
            </a:r>
          </a:p>
          <a:p/>
          <a:p>
            <a:r>
              <a:t>Drittens: Vertrauen ist gut, automatische Tests sind besser. Man darf den Outputs von Sprachmodellen niemals blind vertrauen. Deshalb war uns die automatische Validierung so wichtig. Wir testen das Original-PHP und die neue C#-App parallel, um sicherzustellen, dass sich das Verhalten nicht verändert hat.</a:t>
            </a:r>
          </a:p>
          <a:p/>
          <a:p>
            <a:r>
              <a:t>Damit sind wir am Ende unserer Präsentation angekommen. Wir hoffen, wir konnten euch zeigen, wie viel Spaß die KI-gestützte Modernisierung macht und wie einfach der Einstieg dank der neuen Gemini-APIs ist.</a:t>
            </a:r>
          </a:p>
          <a:p/>
          <a:p>
            <a:r>
              <a:t>Vielen Dank für eure Aufmerksamkeit! Wir freuen uns jetzt riesig auf eure Fragen und eine spannende Diskussion.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097280"/>
            <a:ext cx="100584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645920"/>
            <a:ext cx="8961120" cy="3474720"/>
          </a:xfrm>
          <a:prstGeom prst="rect">
            <a:avLst/>
          </a:prstGeom>
          <a:noFill/>
        </p:spPr>
        <p:txBody>
          <a:bodyPr wrap="square">
            <a:spAutoFit/>
          </a:bodyPr>
          <a:lstStyle/>
          <a:p>
            <a:pPr>
              <a:spcAft>
                <a:spcPts val="1400"/>
              </a:spcAft>
              <a:defRPr sz="1300" b="1">
                <a:solidFill>
                  <a:srgbClr val="0EA5E9"/>
                </a:solidFill>
                <a:latin typeface="Segoe UI"/>
              </a:defRPr>
            </a:pPr>
            <a:r>
              <a:t>PROJEKT-PRÄSENTATION  |  KIS4</a:t>
            </a:r>
          </a:p>
          <a:p>
            <a:pPr>
              <a:spcAft>
                <a:spcPts val="600"/>
              </a:spcAft>
              <a:defRPr sz="5600" b="1">
                <a:solidFill>
                  <a:srgbClr val="14B8A6"/>
                </a:solidFill>
                <a:latin typeface="Segoe UI"/>
              </a:defRPr>
            </a:pPr>
            <a:r>
              <a:t>WebLegacy AI</a:t>
            </a:r>
          </a:p>
          <a:p>
            <a:pPr>
              <a:spcAft>
                <a:spcPts val="3600"/>
              </a:spcAft>
              <a:defRPr sz="2200">
                <a:solidFill>
                  <a:srgbClr val="E2E8F0"/>
                </a:solidFill>
                <a:latin typeface="Segoe UI"/>
              </a:defRPr>
            </a:pPr>
            <a:r>
              <a:t>PHP-zu-C# Modernisierung mittels Google Gemini API</a:t>
            </a:r>
          </a:p>
          <a:p>
            <a:pPr>
              <a:defRPr sz="1600" b="1">
                <a:solidFill>
                  <a:srgbClr val="94A3B8"/>
                </a:solidFill>
                <a:latin typeface="Segoe UI"/>
              </a:defRPr>
            </a:pPr>
            <a:r>
              <a:t>Entwickelt von Aldin Memic &amp; Amadin Six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lIns="0" tIns="0" rIns="0" bIns="0">
            <a:spAutoFit/>
          </a:bodyPr>
          <a:lstStyle/>
          <a:p>
            <a:pPr>
              <a:defRPr sz="3600" b="1">
                <a:solidFill>
                  <a:srgbClr val="14B8A6"/>
                </a:solidFill>
                <a:latin typeface="Segoe UI"/>
              </a:defRPr>
            </a:pPr>
            <a:r>
              <a:t>Das Problem: Der PHP-Monolith</a:t>
            </a:r>
          </a:p>
        </p:txBody>
      </p:sp>
      <p:sp>
        <p:nvSpPr>
          <p:cNvPr id="5" name="TextBox 4"/>
          <p:cNvSpPr txBox="1"/>
          <p:nvPr/>
        </p:nvSpPr>
        <p:spPr>
          <a:xfrm>
            <a:off x="10515600" y="6217920"/>
            <a:ext cx="914400" cy="365760"/>
          </a:xfrm>
          <a:prstGeom prst="rect">
            <a:avLst/>
          </a:prstGeom>
          <a:noFill/>
        </p:spPr>
        <p:txBody>
          <a:bodyPr wrap="square" lIns="0" tIns="0" rIns="0" bIns="0">
            <a:spAutoFit/>
          </a:bodyPr>
          <a:lstStyle/>
          <a:p>
            <a:pPr algn="r">
              <a:defRPr sz="1100">
                <a:solidFill>
                  <a:srgbClr val="94A3B8"/>
                </a:solidFill>
                <a:latin typeface="Segoe UI"/>
              </a:defRPr>
            </a:pPr>
            <a:r>
              <a:t>Folie 2 / 8</a:t>
            </a:r>
          </a:p>
        </p:txBody>
      </p:sp>
      <p:sp>
        <p:nvSpPr>
          <p:cNvPr id="6" name="Rounded Rectangle 5"/>
          <p:cNvSpPr/>
          <p:nvPr/>
        </p:nvSpPr>
        <p:spPr>
          <a:xfrm>
            <a:off x="731520" y="1645920"/>
            <a:ext cx="512064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1828800"/>
          </a:xfrm>
          <a:prstGeom prst="rect">
            <a:avLst/>
          </a:prstGeom>
          <a:noFill/>
        </p:spPr>
        <p:txBody>
          <a:bodyPr wrap="square">
            <a:spAutoFit/>
          </a:bodyPr>
          <a:lstStyle/>
          <a:p>
            <a:pPr>
              <a:spcAft>
                <a:spcPts val="800"/>
              </a:spcAft>
              <a:defRPr sz="2000" b="1">
                <a:solidFill>
                  <a:srgbClr val="0EA5E9"/>
                </a:solidFill>
                <a:latin typeface="Segoe UI"/>
              </a:defRPr>
            </a:pPr>
            <a:r>
              <a:t>1. Spaghetti-Code</a:t>
            </a:r>
          </a:p>
          <a:p>
            <a:pPr>
              <a:defRPr sz="1400">
                <a:solidFill>
                  <a:srgbClr val="E2E8F0"/>
                </a:solidFill>
                <a:latin typeface="Segoe UI"/>
              </a:defRPr>
            </a:pPr>
            <a:r>
              <a:t>HTML-Ausgabe, Logik und Datenbankabfragen sind komplett in einer PHP-Datei vermischt. Es gibt keine klare Struktur.</a:t>
            </a:r>
          </a:p>
        </p:txBody>
      </p:sp>
      <p:sp>
        <p:nvSpPr>
          <p:cNvPr id="8" name="Rounded Rectangle 7"/>
          <p:cNvSpPr/>
          <p:nvPr/>
        </p:nvSpPr>
        <p:spPr>
          <a:xfrm>
            <a:off x="6217920" y="1645920"/>
            <a:ext cx="512064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37360"/>
            <a:ext cx="4754880" cy="1828800"/>
          </a:xfrm>
          <a:prstGeom prst="rect">
            <a:avLst/>
          </a:prstGeom>
          <a:noFill/>
        </p:spPr>
        <p:txBody>
          <a:bodyPr wrap="square">
            <a:spAutoFit/>
          </a:bodyPr>
          <a:lstStyle/>
          <a:p>
            <a:pPr>
              <a:spcAft>
                <a:spcPts val="800"/>
              </a:spcAft>
              <a:defRPr sz="2000" b="1">
                <a:solidFill>
                  <a:srgbClr val="0EA5E9"/>
                </a:solidFill>
                <a:latin typeface="Segoe UI"/>
              </a:defRPr>
            </a:pPr>
            <a:r>
              <a:t>2. Keine Typensicherheit</a:t>
            </a:r>
          </a:p>
          <a:p>
            <a:pPr>
              <a:defRPr sz="1400">
                <a:solidFill>
                  <a:srgbClr val="E2E8F0"/>
                </a:solidFill>
                <a:latin typeface="Segoe UI"/>
              </a:defRPr>
            </a:pPr>
            <a:r>
              <a:t>PHP ist dynamisch typisiert. Ob eine Variable Text, Zahl oder Datenbank-Ergebnis ist, merkt man oft erst beim Absturz.</a:t>
            </a:r>
          </a:p>
        </p:txBody>
      </p:sp>
      <p:sp>
        <p:nvSpPr>
          <p:cNvPr id="10" name="Rounded Rectangle 9"/>
          <p:cNvSpPr/>
          <p:nvPr/>
        </p:nvSpPr>
        <p:spPr>
          <a:xfrm>
            <a:off x="731520" y="3931920"/>
            <a:ext cx="512064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23360"/>
            <a:ext cx="4754880" cy="1828800"/>
          </a:xfrm>
          <a:prstGeom prst="rect">
            <a:avLst/>
          </a:prstGeom>
          <a:noFill/>
        </p:spPr>
        <p:txBody>
          <a:bodyPr wrap="square">
            <a:spAutoFit/>
          </a:bodyPr>
          <a:lstStyle/>
          <a:p>
            <a:pPr>
              <a:spcAft>
                <a:spcPts val="800"/>
              </a:spcAft>
              <a:defRPr sz="2000" b="1">
                <a:solidFill>
                  <a:srgbClr val="0EA5E9"/>
                </a:solidFill>
                <a:latin typeface="Segoe UI"/>
              </a:defRPr>
            </a:pPr>
            <a:r>
              <a:t>3. SQL-Abfragen im Code</a:t>
            </a:r>
          </a:p>
          <a:p>
            <a:pPr>
              <a:defRPr sz="1400">
                <a:solidFill>
                  <a:srgbClr val="E2E8F0"/>
                </a:solidFill>
                <a:latin typeface="Segoe UI"/>
              </a:defRPr>
            </a:pPr>
            <a:r>
              <a:t>Rohe mysqli-Queries ohne Schutzbarrieren. Ein falsches Zeichen im Eingabefeld und Hacker können die Datenbank auslesen.</a:t>
            </a:r>
          </a:p>
        </p:txBody>
      </p:sp>
      <p:sp>
        <p:nvSpPr>
          <p:cNvPr id="12" name="Rounded Rectangle 11"/>
          <p:cNvSpPr/>
          <p:nvPr/>
        </p:nvSpPr>
        <p:spPr>
          <a:xfrm>
            <a:off x="6217920" y="3931920"/>
            <a:ext cx="512064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023360"/>
            <a:ext cx="4754880" cy="1828800"/>
          </a:xfrm>
          <a:prstGeom prst="rect">
            <a:avLst/>
          </a:prstGeom>
          <a:noFill/>
        </p:spPr>
        <p:txBody>
          <a:bodyPr wrap="square">
            <a:spAutoFit/>
          </a:bodyPr>
          <a:lstStyle/>
          <a:p>
            <a:pPr>
              <a:spcAft>
                <a:spcPts val="800"/>
              </a:spcAft>
              <a:defRPr sz="2000" b="1">
                <a:solidFill>
                  <a:srgbClr val="0EA5E9"/>
                </a:solidFill>
                <a:latin typeface="Segoe UI"/>
              </a:defRPr>
            </a:pPr>
            <a:r>
              <a:t>4. Wartungs-Hölle</a:t>
            </a:r>
          </a:p>
          <a:p>
            <a:pPr>
              <a:defRPr sz="1400">
                <a:solidFill>
                  <a:srgbClr val="E2E8F0"/>
                </a:solidFill>
                <a:latin typeface="Segoe UI"/>
              </a:defRPr>
            </a:pPr>
            <a:r>
              <a:t>Änderungen an einem einzigen Skript führen an ganz anderen, scheinbar unbeteiligten Stellen zu unvorhersehbaren Fehlern.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lIns="0" tIns="0" rIns="0" bIns="0">
            <a:spAutoFit/>
          </a:bodyPr>
          <a:lstStyle/>
          <a:p>
            <a:pPr>
              <a:defRPr sz="3600" b="1">
                <a:solidFill>
                  <a:srgbClr val="14B8A6"/>
                </a:solidFill>
                <a:latin typeface="Segoe UI"/>
              </a:defRPr>
            </a:pPr>
            <a:r>
              <a:t>Die Vision: Struktur statt nur Syntax</a:t>
            </a:r>
          </a:p>
        </p:txBody>
      </p:sp>
      <p:sp>
        <p:nvSpPr>
          <p:cNvPr id="5" name="TextBox 4"/>
          <p:cNvSpPr txBox="1"/>
          <p:nvPr/>
        </p:nvSpPr>
        <p:spPr>
          <a:xfrm>
            <a:off x="10515600" y="6217920"/>
            <a:ext cx="914400" cy="365760"/>
          </a:xfrm>
          <a:prstGeom prst="rect">
            <a:avLst/>
          </a:prstGeom>
          <a:noFill/>
        </p:spPr>
        <p:txBody>
          <a:bodyPr wrap="square" lIns="0" tIns="0" rIns="0" bIns="0">
            <a:spAutoFit/>
          </a:bodyPr>
          <a:lstStyle/>
          <a:p>
            <a:pPr algn="r">
              <a:defRPr sz="1100">
                <a:solidFill>
                  <a:srgbClr val="94A3B8"/>
                </a:solidFill>
                <a:latin typeface="Segoe UI"/>
              </a:defRPr>
            </a:pPr>
            <a:r>
              <a:t>Folie 3 / 8</a:t>
            </a:r>
          </a:p>
        </p:txBody>
      </p:sp>
      <p:sp>
        <p:nvSpPr>
          <p:cNvPr id="6" name="Rounded Rectangle 5"/>
          <p:cNvSpPr/>
          <p:nvPr/>
        </p:nvSpPr>
        <p:spPr>
          <a:xfrm>
            <a:off x="731520" y="1645920"/>
            <a:ext cx="4114800" cy="42976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3566160" cy="3566160"/>
          </a:xfrm>
          <a:prstGeom prst="rect">
            <a:avLst/>
          </a:prstGeom>
          <a:noFill/>
        </p:spPr>
        <p:txBody>
          <a:bodyPr wrap="square">
            <a:spAutoFit/>
          </a:bodyPr>
          <a:lstStyle/>
          <a:p>
            <a:pPr>
              <a:spcAft>
                <a:spcPts val="1600"/>
              </a:spcAft>
              <a:defRPr sz="2200" b="1">
                <a:solidFill>
                  <a:srgbClr val="0F172A"/>
                </a:solidFill>
                <a:latin typeface="Segoe UI"/>
              </a:defRPr>
            </a:pPr>
            <a:r>
              <a:t>Die goldene Regel:</a:t>
            </a:r>
          </a:p>
          <a:p>
            <a:pPr>
              <a:spcAft>
                <a:spcPts val="1600"/>
              </a:spcAft>
              <a:defRPr sz="2800" b="1" i="1">
                <a:solidFill>
                  <a:srgbClr val="0F172A"/>
                </a:solidFill>
                <a:latin typeface="Segoe UI"/>
              </a:defRPr>
            </a:pPr>
            <a:r>
              <a:t>"Wer PHP-Spaghetti 1:1 übersetzt, erhält am Ende nur C#-Spaghetti!"</a:t>
            </a:r>
          </a:p>
          <a:p>
            <a:pPr>
              <a:defRPr sz="1500">
                <a:solidFill>
                  <a:srgbClr val="0F172A"/>
                </a:solidFill>
                <a:latin typeface="Segoe UI"/>
              </a:defRPr>
            </a:pPr>
            <a:r>
              <a:t>Unser System versteht den Sinn des Codes und baut ihn nach modernen Best Practices komplett neu auf.</a:t>
            </a:r>
          </a:p>
        </p:txBody>
      </p:sp>
      <p:sp>
        <p:nvSpPr>
          <p:cNvPr id="8" name="TextBox 7"/>
          <p:cNvSpPr txBox="1"/>
          <p:nvPr/>
        </p:nvSpPr>
        <p:spPr>
          <a:xfrm>
            <a:off x="5303520" y="1645920"/>
            <a:ext cx="6126480" cy="4297680"/>
          </a:xfrm>
          <a:prstGeom prst="rect">
            <a:avLst/>
          </a:prstGeom>
          <a:noFill/>
        </p:spPr>
        <p:txBody>
          <a:bodyPr wrap="square">
            <a:spAutoFit/>
          </a:bodyPr>
          <a:lstStyle/>
          <a:p>
            <a:pPr>
              <a:spcAft>
                <a:spcPts val="400"/>
              </a:spcAft>
              <a:defRPr sz="1800" b="1">
                <a:solidFill>
                  <a:srgbClr val="0EA5E9"/>
                </a:solidFill>
                <a:latin typeface="Segoe UI"/>
              </a:defRPr>
            </a:pPr>
            <a:r>
              <a:t>✔  Verstehen der Absicht (Business Intent)</a:t>
            </a:r>
          </a:p>
          <a:p>
            <a:pPr>
              <a:spcAft>
                <a:spcPts val="1600"/>
              </a:spcAft>
              <a:defRPr sz="1300">
                <a:solidFill>
                  <a:srgbClr val="E2E8F0"/>
                </a:solidFill>
                <a:latin typeface="Segoe UI"/>
              </a:defRPr>
            </a:pPr>
            <a:r>
              <a:t>Die KI liest PHP-Code nicht wie ein stupfer Übersetzer, sondern analysiert, was die Software logisch tun will.</a:t>
            </a:r>
          </a:p>
          <a:p>
            <a:pPr>
              <a:spcAft>
                <a:spcPts val="400"/>
              </a:spcAft>
              <a:defRPr sz="1800" b="1">
                <a:solidFill>
                  <a:srgbClr val="0EA5E9"/>
                </a:solidFill>
                <a:latin typeface="Segoe UI"/>
              </a:defRPr>
            </a:pPr>
            <a:r>
              <a:t>✔  Controller-Service-Repository Pattern</a:t>
            </a:r>
          </a:p>
          <a:p>
            <a:pPr>
              <a:spcAft>
                <a:spcPts val="1600"/>
              </a:spcAft>
              <a:defRPr sz="1300">
                <a:solidFill>
                  <a:srgbClr val="E2E8F0"/>
                </a:solidFill>
                <a:latin typeface="Segoe UI"/>
              </a:defRPr>
            </a:pPr>
            <a:r>
              <a:t>Wir zerschneiden die monolithischen PHP-Dateien sauber. Die Weboberfläche (Controller), die Logik (Service) und der Datenzugriff (Repository) werden getrennt.</a:t>
            </a:r>
          </a:p>
          <a:p>
            <a:pPr>
              <a:spcAft>
                <a:spcPts val="400"/>
              </a:spcAft>
              <a:defRPr sz="1800" b="1">
                <a:solidFill>
                  <a:srgbClr val="0EA5E9"/>
                </a:solidFill>
                <a:latin typeface="Segoe UI"/>
              </a:defRPr>
            </a:pPr>
            <a:r>
              <a:t>✔  Entity Framework Integration</a:t>
            </a:r>
          </a:p>
          <a:p>
            <a:pPr>
              <a:spcAft>
                <a:spcPts val="1600"/>
              </a:spcAft>
              <a:defRPr sz="1300">
                <a:solidFill>
                  <a:srgbClr val="E2E8F0"/>
                </a:solidFill>
                <a:latin typeface="Segoe UI"/>
              </a:defRPr>
            </a:pPr>
            <a:r>
              <a:t>Wir übersetzen rohe SQL-Strings in sichere, lesbare C#-Objektstrukturen (ORM).</a:t>
            </a:r>
          </a:p>
          <a:p>
            <a:pPr>
              <a:spcAft>
                <a:spcPts val="400"/>
              </a:spcAft>
              <a:defRPr sz="1800" b="1">
                <a:solidFill>
                  <a:srgbClr val="0EA5E9"/>
                </a:solidFill>
                <a:latin typeface="Segoe UI"/>
              </a:defRPr>
            </a:pPr>
            <a:r>
              <a:t>✔  Boilerplate-Reduzierung</a:t>
            </a:r>
          </a:p>
          <a:p>
            <a:pPr>
              <a:spcAft>
                <a:spcPts val="1600"/>
              </a:spcAft>
              <a:defRPr sz="1300">
                <a:solidFill>
                  <a:srgbClr val="E2E8F0"/>
                </a:solidFill>
                <a:latin typeface="Segoe UI"/>
              </a:defRPr>
            </a:pPr>
            <a:r>
              <a:t>Wir nutzen Dependency Injection (DI) und moderne asynchrone Programmiermuster (async/await), die im modernen C# Standard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lIns="0" tIns="0" rIns="0" bIns="0">
            <a:spAutoFit/>
          </a:bodyPr>
          <a:lstStyle/>
          <a:p>
            <a:pPr>
              <a:defRPr sz="3600" b="1">
                <a:solidFill>
                  <a:srgbClr val="14B8A6"/>
                </a:solidFill>
                <a:latin typeface="Segoe UI"/>
              </a:defRPr>
            </a:pPr>
            <a:r>
              <a:t>Wie es funktioniert: Der 3-Schritte-Ablauf</a:t>
            </a:r>
          </a:p>
        </p:txBody>
      </p:sp>
      <p:sp>
        <p:nvSpPr>
          <p:cNvPr id="5" name="TextBox 4"/>
          <p:cNvSpPr txBox="1"/>
          <p:nvPr/>
        </p:nvSpPr>
        <p:spPr>
          <a:xfrm>
            <a:off x="10515600" y="6217920"/>
            <a:ext cx="914400" cy="365760"/>
          </a:xfrm>
          <a:prstGeom prst="rect">
            <a:avLst/>
          </a:prstGeom>
          <a:noFill/>
        </p:spPr>
        <p:txBody>
          <a:bodyPr wrap="square" lIns="0" tIns="0" rIns="0" bIns="0">
            <a:spAutoFit/>
          </a:bodyPr>
          <a:lstStyle/>
          <a:p>
            <a:pPr algn="r">
              <a:defRPr sz="1100">
                <a:solidFill>
                  <a:srgbClr val="94A3B8"/>
                </a:solidFill>
                <a:latin typeface="Segoe UI"/>
              </a:defRPr>
            </a:pPr>
            <a:r>
              <a:t>Folie 4 / 8</a:t>
            </a:r>
          </a:p>
        </p:txBody>
      </p:sp>
      <p:sp>
        <p:nvSpPr>
          <p:cNvPr id="6" name="Rounded Rectangle 5"/>
          <p:cNvSpPr/>
          <p:nvPr/>
        </p:nvSpPr>
        <p:spPr>
          <a:xfrm>
            <a:off x="731520" y="1645920"/>
            <a:ext cx="3291840" cy="393192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2926080" cy="3566160"/>
          </a:xfrm>
          <a:prstGeom prst="rect">
            <a:avLst/>
          </a:prstGeom>
          <a:noFill/>
        </p:spPr>
        <p:txBody>
          <a:bodyPr wrap="square">
            <a:spAutoFit/>
          </a:bodyPr>
          <a:lstStyle/>
          <a:p>
            <a:pPr>
              <a:spcAft>
                <a:spcPts val="2000"/>
              </a:spcAft>
              <a:defRPr sz="2200" b="1">
                <a:solidFill>
                  <a:srgbClr val="14B8A6"/>
                </a:solidFill>
                <a:latin typeface="Segoe UI"/>
              </a:defRPr>
            </a:pPr>
            <a:r>
              <a:t>1. Analyse (Intent)</a:t>
            </a:r>
          </a:p>
          <a:p>
            <a:pPr>
              <a:spcAft>
                <a:spcPts val="2000"/>
              </a:spcAft>
              <a:defRPr sz="1500">
                <a:solidFill>
                  <a:srgbClr val="E2E8F0"/>
                </a:solidFill>
                <a:latin typeface="Segoe UI"/>
              </a:defRPr>
            </a:pPr>
            <a:r>
              <a:t>Die Engine liest den unstrukturierten PHP-Quelltext ein und bittet Gemini, die eigentliche Logik strukturiert zusammenzufassen.</a:t>
            </a:r>
          </a:p>
          <a:p>
            <a:pPr>
              <a:defRPr sz="1300">
                <a:solidFill>
                  <a:srgbClr val="94A3B8"/>
                </a:solidFill>
                <a:latin typeface="Segoe UI"/>
              </a:defRPr>
            </a:pPr>
            <a:r>
              <a:t>• PHP-Parsing</a:t>
            </a:r>
            <a:br/>
            <a:r>
              <a:t>• Intent-Extraktion</a:t>
            </a:r>
            <a:br/>
            <a:r>
              <a:t>• Logik-Zusammenfassung</a:t>
            </a:r>
          </a:p>
        </p:txBody>
      </p:sp>
      <p:sp>
        <p:nvSpPr>
          <p:cNvPr id="8" name="Rounded Rectangle 7"/>
          <p:cNvSpPr/>
          <p:nvPr/>
        </p:nvSpPr>
        <p:spPr>
          <a:xfrm>
            <a:off x="4480559" y="1645920"/>
            <a:ext cx="3291840" cy="393192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39" y="1828800"/>
            <a:ext cx="2926080" cy="3566160"/>
          </a:xfrm>
          <a:prstGeom prst="rect">
            <a:avLst/>
          </a:prstGeom>
          <a:noFill/>
        </p:spPr>
        <p:txBody>
          <a:bodyPr wrap="square">
            <a:spAutoFit/>
          </a:bodyPr>
          <a:lstStyle/>
          <a:p>
            <a:pPr>
              <a:spcAft>
                <a:spcPts val="2000"/>
              </a:spcAft>
              <a:defRPr sz="2200" b="1">
                <a:solidFill>
                  <a:srgbClr val="0EA5E9"/>
                </a:solidFill>
                <a:latin typeface="Segoe UI"/>
              </a:defRPr>
            </a:pPr>
            <a:r>
              <a:t>2. Mapping (Struktur)</a:t>
            </a:r>
          </a:p>
          <a:p>
            <a:pPr>
              <a:spcAft>
                <a:spcPts val="2000"/>
              </a:spcAft>
              <a:defRPr sz="1500">
                <a:solidFill>
                  <a:srgbClr val="E2E8F0"/>
                </a:solidFill>
                <a:latin typeface="Segoe UI"/>
              </a:defRPr>
            </a:pPr>
            <a:r>
              <a:t>Die KI bildet PHP-Befehle auf moderne C#-Gegenstücke ab (z. B. SQL zu Entity Framework Core) und definiert Datenmodelle.</a:t>
            </a:r>
          </a:p>
          <a:p>
            <a:pPr>
              <a:defRPr sz="1300">
                <a:solidFill>
                  <a:srgbClr val="94A3B8"/>
                </a:solidFill>
                <a:latin typeface="Segoe UI"/>
              </a:defRPr>
            </a:pPr>
            <a:r>
              <a:t>• SQL to C# Models</a:t>
            </a:r>
            <a:br/>
            <a:r>
              <a:t>• Pattern Definition</a:t>
            </a:r>
            <a:br/>
            <a:r>
              <a:t>• API Endpoint Routing</a:t>
            </a:r>
          </a:p>
        </p:txBody>
      </p:sp>
      <p:sp>
        <p:nvSpPr>
          <p:cNvPr id="10" name="Rounded Rectangle 9"/>
          <p:cNvSpPr/>
          <p:nvPr/>
        </p:nvSpPr>
        <p:spPr>
          <a:xfrm>
            <a:off x="8229600" y="1645920"/>
            <a:ext cx="3291840" cy="393192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828800"/>
            <a:ext cx="2926080" cy="3566160"/>
          </a:xfrm>
          <a:prstGeom prst="rect">
            <a:avLst/>
          </a:prstGeom>
          <a:noFill/>
        </p:spPr>
        <p:txBody>
          <a:bodyPr wrap="square">
            <a:spAutoFit/>
          </a:bodyPr>
          <a:lstStyle/>
          <a:p>
            <a:pPr>
              <a:spcAft>
                <a:spcPts val="2000"/>
              </a:spcAft>
              <a:defRPr sz="2200" b="1">
                <a:solidFill>
                  <a:srgbClr val="14B8A6"/>
                </a:solidFill>
                <a:latin typeface="Segoe UI"/>
              </a:defRPr>
            </a:pPr>
            <a:r>
              <a:t>3. Generation (C#)</a:t>
            </a:r>
          </a:p>
          <a:p>
            <a:pPr>
              <a:spcAft>
                <a:spcPts val="2000"/>
              </a:spcAft>
              <a:defRPr sz="1500">
                <a:solidFill>
                  <a:srgbClr val="E2E8F0"/>
                </a:solidFill>
                <a:latin typeface="Segoe UI"/>
              </a:defRPr>
            </a:pPr>
            <a:r>
              <a:t>Das System erzeugt ein voll funktionsfähiges ASP.NET Core Projekt und führt ein Refactoring für beste Lesbarkeit durch.</a:t>
            </a:r>
          </a:p>
          <a:p>
            <a:pPr>
              <a:defRPr sz="1300">
                <a:solidFill>
                  <a:srgbClr val="94A3B8"/>
                </a:solidFill>
                <a:latin typeface="Segoe UI"/>
              </a:defRPr>
            </a:pPr>
            <a:r>
              <a:t>• ASP.NET Boilerplate</a:t>
            </a:r>
            <a:br/>
            <a:r>
              <a:t>• Auto-Refactoring</a:t>
            </a:r>
            <a:br/>
            <a:r>
              <a:t>• Unit Test Generation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lIns="0" tIns="0" rIns="0" bIns="0">
            <a:spAutoFit/>
          </a:bodyPr>
          <a:lstStyle/>
          <a:p>
            <a:pPr>
              <a:defRPr sz="3600" b="1">
                <a:solidFill>
                  <a:srgbClr val="14B8A6"/>
                </a:solidFill>
                <a:latin typeface="Segoe UI"/>
              </a:defRPr>
            </a:pPr>
            <a:r>
              <a:t>Die Hürden: Wenn die KI an ihre Grenzen stößt</a:t>
            </a:r>
          </a:p>
        </p:txBody>
      </p:sp>
      <p:sp>
        <p:nvSpPr>
          <p:cNvPr id="5" name="TextBox 4"/>
          <p:cNvSpPr txBox="1"/>
          <p:nvPr/>
        </p:nvSpPr>
        <p:spPr>
          <a:xfrm>
            <a:off x="10515600" y="6217920"/>
            <a:ext cx="914400" cy="365760"/>
          </a:xfrm>
          <a:prstGeom prst="rect">
            <a:avLst/>
          </a:prstGeom>
          <a:noFill/>
        </p:spPr>
        <p:txBody>
          <a:bodyPr wrap="square" lIns="0" tIns="0" rIns="0" bIns="0">
            <a:spAutoFit/>
          </a:bodyPr>
          <a:lstStyle/>
          <a:p>
            <a:pPr algn="r">
              <a:defRPr sz="1100">
                <a:solidFill>
                  <a:srgbClr val="94A3B8"/>
                </a:solidFill>
                <a:latin typeface="Segoe UI"/>
              </a:defRPr>
            </a:pPr>
            <a:r>
              <a:t>Folie 5 / 8</a:t>
            </a:r>
          </a:p>
        </p:txBody>
      </p:sp>
      <p:sp>
        <p:nvSpPr>
          <p:cNvPr id="6" name="Rounded Rectangle 5"/>
          <p:cNvSpPr/>
          <p:nvPr/>
        </p:nvSpPr>
        <p:spPr>
          <a:xfrm>
            <a:off x="731520" y="1645920"/>
            <a:ext cx="5120640" cy="429768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754880" cy="3931920"/>
          </a:xfrm>
          <a:prstGeom prst="rect">
            <a:avLst/>
          </a:prstGeom>
          <a:noFill/>
        </p:spPr>
        <p:txBody>
          <a:bodyPr wrap="square">
            <a:spAutoFit/>
          </a:bodyPr>
          <a:lstStyle/>
          <a:p>
            <a:pPr>
              <a:spcAft>
                <a:spcPts val="400"/>
              </a:spcAft>
              <a:defRPr sz="1600" b="1">
                <a:solidFill>
                  <a:srgbClr val="F43F5E"/>
                </a:solidFill>
                <a:latin typeface="Segoe UI"/>
              </a:defRPr>
            </a:pPr>
            <a:r>
              <a:t>✗  Server-Überlastung (503 Service Unavailable)</a:t>
            </a:r>
          </a:p>
          <a:p>
            <a:pPr>
              <a:spcAft>
                <a:spcPts val="1400"/>
              </a:spcAft>
              <a:defRPr sz="1200">
                <a:solidFill>
                  <a:srgbClr val="E2E8F0"/>
                </a:solidFill>
                <a:latin typeface="Segoe UI"/>
              </a:defRPr>
            </a:pPr>
            <a:r>
              <a:t>Bei hoher Auslastung verweigert die API temporär den Dienst. Das blockiert automatische Migrations-Pipelines.</a:t>
            </a:r>
          </a:p>
          <a:p/>
          <a:p>
            <a:pPr>
              <a:spcAft>
                <a:spcPts val="400"/>
              </a:spcAft>
              <a:defRPr sz="1600" b="1">
                <a:solidFill>
                  <a:srgbClr val="F43F5E"/>
                </a:solidFill>
                <a:latin typeface="Segoe UI"/>
              </a:defRPr>
            </a:pPr>
            <a:r>
              <a:t>✗  Kontextgrenzen bei großen Projekten</a:t>
            </a:r>
          </a:p>
          <a:p>
            <a:pPr>
              <a:spcAft>
                <a:spcPts val="1400"/>
              </a:spcAft>
              <a:defRPr sz="1200">
                <a:solidFill>
                  <a:srgbClr val="E2E8F0"/>
                </a:solidFill>
                <a:latin typeface="Segoe UI"/>
              </a:defRPr>
            </a:pPr>
            <a:r>
              <a:t>Gibt man der KI zu viel Code auf einmal, vergisst sie Details oder verwechselt Logik-Zusammenhänge.</a:t>
            </a:r>
          </a:p>
          <a:p/>
          <a:p>
            <a:pPr>
              <a:spcAft>
                <a:spcPts val="400"/>
              </a:spcAft>
              <a:defRPr sz="1600" b="1">
                <a:solidFill>
                  <a:srgbClr val="F43F5E"/>
                </a:solidFill>
                <a:latin typeface="Segoe UI"/>
              </a:defRPr>
            </a:pPr>
            <a:r>
              <a:t>✗  Ungenaue SQL-zu-C# Übersetzungen</a:t>
            </a:r>
          </a:p>
          <a:p>
            <a:pPr>
              <a:spcAft>
                <a:spcPts val="1400"/>
              </a:spcAft>
              <a:defRPr sz="1200">
                <a:solidFill>
                  <a:srgbClr val="E2E8F0"/>
                </a:solidFill>
                <a:latin typeface="Segoe UI"/>
              </a:defRPr>
            </a:pPr>
            <a:r>
              <a:t>Wilde, unstrukturierte PHP-SQL-Abfragen verwirren Standard-Übersetzer und erfordern Spezial-Logik.</a:t>
            </a:r>
          </a:p>
        </p:txBody>
      </p:sp>
      <p:sp>
        <p:nvSpPr>
          <p:cNvPr id="8" name="Rounded Rectangle 7"/>
          <p:cNvSpPr/>
          <p:nvPr/>
        </p:nvSpPr>
        <p:spPr>
          <a:xfrm>
            <a:off x="6217920" y="1645920"/>
            <a:ext cx="5120640" cy="429768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754880" cy="3931920"/>
          </a:xfrm>
          <a:prstGeom prst="rect">
            <a:avLst/>
          </a:prstGeom>
          <a:noFill/>
        </p:spPr>
        <p:txBody>
          <a:bodyPr wrap="square">
            <a:spAutoFit/>
          </a:bodyPr>
          <a:lstStyle/>
          <a:p>
            <a:pPr>
              <a:spcAft>
                <a:spcPts val="400"/>
              </a:spcAft>
              <a:defRPr sz="1600" b="1">
                <a:solidFill>
                  <a:srgbClr val="14B8A6"/>
                </a:solidFill>
                <a:latin typeface="Segoe UI"/>
              </a:defRPr>
            </a:pPr>
            <a:r>
              <a:t>✔  Wechsel auf hochverfügbare Modelle</a:t>
            </a:r>
          </a:p>
          <a:p>
            <a:pPr>
              <a:spcAft>
                <a:spcPts val="1400"/>
              </a:spcAft>
              <a:defRPr sz="1200">
                <a:solidFill>
                  <a:srgbClr val="E2E8F0"/>
                </a:solidFill>
                <a:latin typeface="Segoe UI"/>
              </a:defRPr>
            </a:pPr>
            <a:r>
              <a:t>Wechsel von 'gemini-flash-latest' auf robustere Modelle wie 'gemini-2.5-flash' in der Konfiguration.</a:t>
            </a:r>
          </a:p>
          <a:p/>
          <a:p>
            <a:pPr>
              <a:spcAft>
                <a:spcPts val="400"/>
              </a:spcAft>
              <a:defRPr sz="1600" b="1">
                <a:solidFill>
                  <a:srgbClr val="14B8A6"/>
                </a:solidFill>
                <a:latin typeface="Segoe UI"/>
              </a:defRPr>
            </a:pPr>
            <a:r>
              <a:t>✔  Intelligentes Code-Chunking</a:t>
            </a:r>
          </a:p>
          <a:p>
            <a:pPr>
              <a:spcAft>
                <a:spcPts val="1400"/>
              </a:spcAft>
              <a:defRPr sz="1200">
                <a:solidFill>
                  <a:srgbClr val="E2E8F0"/>
                </a:solidFill>
                <a:latin typeface="Segoe UI"/>
              </a:defRPr>
            </a:pPr>
            <a:r>
              <a:t>Wir zerschneiden große PHP-Projekte in kleine logische Code-Häppchen und verarbeiten diese nacheinander.</a:t>
            </a:r>
          </a:p>
          <a:p/>
          <a:p>
            <a:pPr>
              <a:spcAft>
                <a:spcPts val="400"/>
              </a:spcAft>
              <a:defRPr sz="1600" b="1">
                <a:solidFill>
                  <a:srgbClr val="14B8A6"/>
                </a:solidFill>
                <a:latin typeface="Segoe UI"/>
              </a:defRPr>
            </a:pPr>
            <a:r>
              <a:t>✔  Automatisches Retry-Handling (Wiederholung)</a:t>
            </a:r>
          </a:p>
          <a:p>
            <a:pPr>
              <a:spcAft>
                <a:spcPts val="1400"/>
              </a:spcAft>
              <a:defRPr sz="1200">
                <a:solidFill>
                  <a:srgbClr val="E2E8F0"/>
                </a:solidFill>
                <a:latin typeface="Segoe UI"/>
              </a:defRPr>
            </a:pPr>
            <a:r>
              <a:t>Einbau von cleveren Wiederholungs-Skripten, die bei einem 503-Fehler kurz warten und es erneut versuchen.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lIns="0" tIns="0" rIns="0" bIns="0">
            <a:spAutoFit/>
          </a:bodyPr>
          <a:lstStyle/>
          <a:p>
            <a:pPr>
              <a:defRPr sz="3600" b="1">
                <a:solidFill>
                  <a:srgbClr val="14B8A6"/>
                </a:solidFill>
                <a:latin typeface="Segoe UI"/>
              </a:defRPr>
            </a:pPr>
            <a:r>
              <a:t>Der API-Aufruf: Super simpel in Python</a:t>
            </a:r>
          </a:p>
        </p:txBody>
      </p:sp>
      <p:sp>
        <p:nvSpPr>
          <p:cNvPr id="5" name="TextBox 4"/>
          <p:cNvSpPr txBox="1"/>
          <p:nvPr/>
        </p:nvSpPr>
        <p:spPr>
          <a:xfrm>
            <a:off x="10515600" y="6217920"/>
            <a:ext cx="914400" cy="365760"/>
          </a:xfrm>
          <a:prstGeom prst="rect">
            <a:avLst/>
          </a:prstGeom>
          <a:noFill/>
        </p:spPr>
        <p:txBody>
          <a:bodyPr wrap="square" lIns="0" tIns="0" rIns="0" bIns="0">
            <a:spAutoFit/>
          </a:bodyPr>
          <a:lstStyle/>
          <a:p>
            <a:pPr algn="r">
              <a:defRPr sz="1100">
                <a:solidFill>
                  <a:srgbClr val="94A3B8"/>
                </a:solidFill>
                <a:latin typeface="Segoe UI"/>
              </a:defRPr>
            </a:pPr>
            <a:r>
              <a:t>Folie 6 / 8</a:t>
            </a:r>
          </a:p>
        </p:txBody>
      </p:sp>
      <p:sp>
        <p:nvSpPr>
          <p:cNvPr id="6" name="TextBox 5"/>
          <p:cNvSpPr txBox="1"/>
          <p:nvPr/>
        </p:nvSpPr>
        <p:spPr>
          <a:xfrm>
            <a:off x="731520" y="1645920"/>
            <a:ext cx="4114800" cy="4297680"/>
          </a:xfrm>
          <a:prstGeom prst="rect">
            <a:avLst/>
          </a:prstGeom>
          <a:noFill/>
        </p:spPr>
        <p:txBody>
          <a:bodyPr wrap="square">
            <a:spAutoFit/>
          </a:bodyPr>
          <a:lstStyle/>
          <a:p>
            <a:pPr>
              <a:spcAft>
                <a:spcPts val="1600"/>
              </a:spcAft>
              <a:defRPr sz="2200" b="1">
                <a:solidFill>
                  <a:srgbClr val="14B8A6"/>
                </a:solidFill>
                <a:latin typeface="Segoe UI"/>
              </a:defRPr>
            </a:pPr>
            <a:r>
              <a:t>Die Magie der SDK</a:t>
            </a:r>
          </a:p>
          <a:p>
            <a:pPr>
              <a:spcAft>
                <a:spcPts val="1400"/>
              </a:spcAft>
              <a:defRPr sz="1400">
                <a:solidFill>
                  <a:srgbClr val="E2E8F0"/>
                </a:solidFill>
                <a:latin typeface="Segoe UI"/>
              </a:defRPr>
            </a:pPr>
            <a:r>
              <a:t>1. Der Client als Telefon: Über 'genai.Client()' bauen wir den Kanal zu den Google-Servern auf.</a:t>
            </a:r>
          </a:p>
          <a:p>
            <a:pPr>
              <a:spcAft>
                <a:spcPts val="1400"/>
              </a:spcAft>
              <a:defRPr sz="1400">
                <a:solidFill>
                  <a:srgbClr val="E2E8F0"/>
                </a:solidFill>
                <a:latin typeface="Segoe UI"/>
              </a:defRPr>
            </a:pPr>
            <a:r>
              <a:t>2. Das Modell als Gehirn: Wir wählen 'gemini-2.5-flash' aus – schnell, günstig und hochverfügbar.</a:t>
            </a:r>
          </a:p>
          <a:p>
            <a:pPr>
              <a:spcAft>
                <a:spcPts val="1400"/>
              </a:spcAft>
              <a:defRPr sz="1400">
                <a:solidFill>
                  <a:srgbClr val="E2E8F0"/>
                </a:solidFill>
                <a:latin typeface="Segoe UI"/>
              </a:defRPr>
            </a:pPr>
            <a:r>
              <a:t>3. Der Prompt als Frage: Wir übergeben der Methode 'generate_content' den PHP-Code und eine klare Arbeitsanweisung.</a:t>
            </a:r>
          </a:p>
          <a:p>
            <a:pPr>
              <a:spcAft>
                <a:spcPts val="1400"/>
              </a:spcAft>
              <a:defRPr sz="1400">
                <a:solidFill>
                  <a:srgbClr val="E2E8F0"/>
                </a:solidFill>
                <a:latin typeface="Segoe UI"/>
              </a:defRPr>
            </a:pPr>
            <a:r>
              <a:t>4. Die Antwort: Das Ergebnis kommt in Sekundenbruchteilen im Textformat zurück und kann verarbeitet werden.</a:t>
            </a:r>
          </a:p>
        </p:txBody>
      </p:sp>
      <p:sp>
        <p:nvSpPr>
          <p:cNvPr id="7" name="Rounded Rectangle 6"/>
          <p:cNvSpPr/>
          <p:nvPr/>
        </p:nvSpPr>
        <p:spPr>
          <a:xfrm>
            <a:off x="5303520" y="1645920"/>
            <a:ext cx="6126480" cy="4297680"/>
          </a:xfrm>
          <a:prstGeom prst="roundRect">
            <a:avLst/>
          </a:prstGeom>
          <a:solidFill>
            <a:srgbClr val="11182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71500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0" y="1783080"/>
            <a:ext cx="109728" cy="10972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691640"/>
            <a:ext cx="2286000" cy="274320"/>
          </a:xfrm>
          <a:prstGeom prst="rect">
            <a:avLst/>
          </a:prstGeom>
          <a:noFill/>
        </p:spPr>
        <p:txBody>
          <a:bodyPr wrap="none">
            <a:spAutoFit/>
          </a:bodyPr>
          <a:lstStyle/>
          <a:p>
            <a:pPr>
              <a:defRPr sz="1100">
                <a:solidFill>
                  <a:srgbClr val="94A3B8"/>
                </a:solidFill>
                <a:latin typeface="Consolas"/>
              </a:defRPr>
            </a:pPr>
            <a:r>
              <a:t>gemini_client.py (Python)</a:t>
            </a:r>
          </a:p>
        </p:txBody>
      </p:sp>
      <p:sp>
        <p:nvSpPr>
          <p:cNvPr id="12" name="TextBox 11"/>
          <p:cNvSpPr txBox="1"/>
          <p:nvPr/>
        </p:nvSpPr>
        <p:spPr>
          <a:xfrm>
            <a:off x="5486400" y="2103120"/>
            <a:ext cx="5760720" cy="3657600"/>
          </a:xfrm>
          <a:prstGeom prst="rect">
            <a:avLst/>
          </a:prstGeom>
          <a:noFill/>
        </p:spPr>
        <p:txBody>
          <a:bodyPr wrap="square" lIns="0" tIns="0" rIns="0" bIns="0">
            <a:spAutoFit/>
          </a:bodyPr>
          <a:lstStyle/>
          <a:p>
            <a:pPr>
              <a:spcAft>
                <a:spcPts val="200"/>
              </a:spcAft>
              <a:defRPr sz="1300">
                <a:solidFill>
                  <a:srgbClr val="E2E8F0"/>
                </a:solidFill>
                <a:latin typeface="Consolas"/>
              </a:defRPr>
            </a:pPr>
            <a:r>
              <a:t>from google import genai</a:t>
            </a:r>
          </a:p>
          <a:p>
            <a:pPr>
              <a:spcAft>
                <a:spcPts val="200"/>
              </a:spcAft>
              <a:defRPr sz="1300">
                <a:solidFill>
                  <a:srgbClr val="E2E8F0"/>
                </a:solidFill>
                <a:latin typeface="Consolas"/>
              </a:defRPr>
            </a:pPr>
          </a:p>
          <a:p>
            <a:pPr>
              <a:spcAft>
                <a:spcPts val="200"/>
              </a:spcAft>
              <a:defRPr sz="1300">
                <a:solidFill>
                  <a:srgbClr val="4ADE80"/>
                </a:solidFill>
                <a:latin typeface="Consolas"/>
              </a:defRPr>
            </a:pPr>
            <a:r>
              <a:t># 1. Verbindung zur Gemini-API aufbauen</a:t>
            </a:r>
          </a:p>
          <a:p>
            <a:pPr>
              <a:spcAft>
                <a:spcPts val="200"/>
              </a:spcAft>
              <a:defRPr sz="1300">
                <a:solidFill>
                  <a:srgbClr val="E2E8F0"/>
                </a:solidFill>
                <a:latin typeface="Consolas"/>
              </a:defRPr>
            </a:pPr>
            <a:r>
              <a:t>client = genai.Client(api_key="DEIN_API_KEY")</a:t>
            </a:r>
          </a:p>
          <a:p>
            <a:pPr>
              <a:spcAft>
                <a:spcPts val="200"/>
              </a:spcAft>
              <a:defRPr sz="1300">
                <a:solidFill>
                  <a:srgbClr val="E2E8F0"/>
                </a:solidFill>
                <a:latin typeface="Consolas"/>
              </a:defRPr>
            </a:pPr>
          </a:p>
          <a:p>
            <a:pPr>
              <a:spcAft>
                <a:spcPts val="200"/>
              </a:spcAft>
              <a:defRPr sz="1300">
                <a:solidFill>
                  <a:srgbClr val="4ADE80"/>
                </a:solidFill>
                <a:latin typeface="Consolas"/>
              </a:defRPr>
            </a:pPr>
            <a:r>
              <a:t># 2. Frage/Auftrag an die KI formulieren</a:t>
            </a:r>
          </a:p>
          <a:p>
            <a:pPr>
              <a:spcAft>
                <a:spcPts val="200"/>
              </a:spcAft>
              <a:defRPr sz="1300">
                <a:solidFill>
                  <a:srgbClr val="FACC15"/>
                </a:solidFill>
                <a:latin typeface="Consolas"/>
              </a:defRPr>
            </a:pPr>
            <a:r>
              <a:t>prompt = "Übersetze folgenden PHP-Code..."</a:t>
            </a:r>
          </a:p>
          <a:p>
            <a:pPr>
              <a:spcAft>
                <a:spcPts val="200"/>
              </a:spcAft>
              <a:defRPr sz="1300">
                <a:solidFill>
                  <a:srgbClr val="E2E8F0"/>
                </a:solidFill>
                <a:latin typeface="Consolas"/>
              </a:defRPr>
            </a:pPr>
          </a:p>
          <a:p>
            <a:pPr>
              <a:spcAft>
                <a:spcPts val="200"/>
              </a:spcAft>
              <a:defRPr sz="1300">
                <a:solidFill>
                  <a:srgbClr val="4ADE80"/>
                </a:solidFill>
                <a:latin typeface="Consolas"/>
              </a:defRPr>
            </a:pPr>
            <a:r>
              <a:t># 3. API-Aufruf starten (Neue SDK-Syntax)</a:t>
            </a:r>
          </a:p>
          <a:p>
            <a:pPr>
              <a:spcAft>
                <a:spcPts val="200"/>
              </a:spcAft>
              <a:defRPr sz="1300">
                <a:solidFill>
                  <a:srgbClr val="E2E8F0"/>
                </a:solidFill>
                <a:latin typeface="Consolas"/>
              </a:defRPr>
            </a:pPr>
            <a:r>
              <a:t>response = client.models.generate_content(</a:t>
            </a:r>
          </a:p>
          <a:p>
            <a:pPr>
              <a:spcAft>
                <a:spcPts val="200"/>
              </a:spcAft>
              <a:defRPr sz="1300">
                <a:solidFill>
                  <a:srgbClr val="FACC15"/>
                </a:solidFill>
                <a:latin typeface="Consolas"/>
              </a:defRPr>
            </a:pPr>
            <a:r>
              <a:t>        model="gemini-2.5-flash",</a:t>
            </a:r>
          </a:p>
          <a:p>
            <a:pPr>
              <a:spcAft>
                <a:spcPts val="200"/>
              </a:spcAft>
              <a:defRPr sz="1300">
                <a:solidFill>
                  <a:srgbClr val="E2E8F0"/>
                </a:solidFill>
                <a:latin typeface="Consolas"/>
              </a:defRPr>
            </a:pPr>
            <a:r>
              <a:t>        contents=prompt</a:t>
            </a:r>
          </a:p>
          <a:p>
            <a:pPr>
              <a:spcAft>
                <a:spcPts val="200"/>
              </a:spcAft>
              <a:defRPr sz="1300">
                <a:solidFill>
                  <a:srgbClr val="E2E8F0"/>
                </a:solidFill>
                <a:latin typeface="Consolas"/>
              </a:defRPr>
            </a:pPr>
            <a:r>
              <a:t>)</a:t>
            </a:r>
          </a:p>
          <a:p>
            <a:pPr>
              <a:spcAft>
                <a:spcPts val="200"/>
              </a:spcAft>
              <a:defRPr sz="1300">
                <a:solidFill>
                  <a:srgbClr val="E2E8F0"/>
                </a:solidFill>
                <a:latin typeface="Consolas"/>
              </a:defRPr>
            </a:pPr>
          </a:p>
          <a:p>
            <a:pPr>
              <a:spcAft>
                <a:spcPts val="200"/>
              </a:spcAft>
              <a:defRPr sz="1300">
                <a:solidFill>
                  <a:srgbClr val="4ADE80"/>
                </a:solidFill>
                <a:latin typeface="Consolas"/>
              </a:defRPr>
            </a:pPr>
            <a:r>
              <a:t># 4. Antwort ausgeben</a:t>
            </a:r>
          </a:p>
          <a:p>
            <a:pPr>
              <a:spcAft>
                <a:spcPts val="200"/>
              </a:spcAft>
              <a:defRPr sz="1300">
                <a:solidFill>
                  <a:srgbClr val="E2E8F0"/>
                </a:solidFill>
                <a:latin typeface="Consolas"/>
              </a:defRPr>
            </a:pPr>
            <a:r>
              <a:t>print(response.text)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lIns="0" tIns="0" rIns="0" bIns="0">
            <a:spAutoFit/>
          </a:bodyPr>
          <a:lstStyle/>
          <a:p>
            <a:pPr>
              <a:defRPr sz="3600" b="1">
                <a:solidFill>
                  <a:srgbClr val="14B8A6"/>
                </a:solidFill>
                <a:latin typeface="Segoe UI"/>
              </a:defRPr>
            </a:pPr>
            <a:r>
              <a:t>Das Ergebnis: PHP vs. C#</a:t>
            </a:r>
          </a:p>
        </p:txBody>
      </p:sp>
      <p:sp>
        <p:nvSpPr>
          <p:cNvPr id="5" name="TextBox 4"/>
          <p:cNvSpPr txBox="1"/>
          <p:nvPr/>
        </p:nvSpPr>
        <p:spPr>
          <a:xfrm>
            <a:off x="10515600" y="6217920"/>
            <a:ext cx="914400" cy="365760"/>
          </a:xfrm>
          <a:prstGeom prst="rect">
            <a:avLst/>
          </a:prstGeom>
          <a:noFill/>
        </p:spPr>
        <p:txBody>
          <a:bodyPr wrap="square" lIns="0" tIns="0" rIns="0" bIns="0">
            <a:spAutoFit/>
          </a:bodyPr>
          <a:lstStyle/>
          <a:p>
            <a:pPr algn="r">
              <a:defRPr sz="1100">
                <a:solidFill>
                  <a:srgbClr val="94A3B8"/>
                </a:solidFill>
                <a:latin typeface="Segoe UI"/>
              </a:defRPr>
            </a:pPr>
            <a:r>
              <a:t>Folie 7 / 8</a:t>
            </a:r>
          </a:p>
        </p:txBody>
      </p:sp>
      <p:sp>
        <p:nvSpPr>
          <p:cNvPr id="6" name="Rounded Rectangle 5"/>
          <p:cNvSpPr/>
          <p:nvPr/>
        </p:nvSpPr>
        <p:spPr>
          <a:xfrm>
            <a:off x="731520" y="1645920"/>
            <a:ext cx="5120640" cy="42976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754880" cy="3931920"/>
          </a:xfrm>
          <a:prstGeom prst="rect">
            <a:avLst/>
          </a:prstGeom>
          <a:noFill/>
        </p:spPr>
        <p:txBody>
          <a:bodyPr wrap="square">
            <a:spAutoFit/>
          </a:bodyPr>
          <a:lstStyle/>
          <a:p>
            <a:pPr>
              <a:spcAft>
                <a:spcPts val="2000"/>
              </a:spcAft>
              <a:defRPr sz="2000" b="1">
                <a:solidFill>
                  <a:srgbClr val="EF4444"/>
                </a:solidFill>
                <a:latin typeface="Segoe UI"/>
              </a:defRPr>
            </a:pPr>
            <a:r>
              <a:t>Alt: PHP-Spaghetti (Monolith)</a:t>
            </a:r>
          </a:p>
          <a:p>
            <a:pPr>
              <a:spcAft>
                <a:spcPts val="400"/>
              </a:spcAft>
              <a:defRPr sz="1600" b="1">
                <a:solidFill>
                  <a:srgbClr val="EF4444"/>
                </a:solidFill>
                <a:latin typeface="Segoe UI"/>
              </a:defRPr>
            </a:pPr>
            <a:r>
              <a:t>✗  Wilde Verknüpfung von HTML &amp; Logik</a:t>
            </a:r>
          </a:p>
          <a:p>
            <a:pPr>
              <a:spcAft>
                <a:spcPts val="1400"/>
              </a:spcAft>
              <a:defRPr sz="1200">
                <a:solidFill>
                  <a:srgbClr val="E2E8F0"/>
                </a:solidFill>
                <a:latin typeface="Segoe UI"/>
              </a:defRPr>
            </a:pPr>
            <a:r>
              <a:t>Code liest sich chaotisch. Design-Änderungen zerschießen die Programmlogik.</a:t>
            </a:r>
          </a:p>
          <a:p>
            <a:pPr>
              <a:spcAft>
                <a:spcPts val="400"/>
              </a:spcAft>
              <a:defRPr sz="1600" b="1">
                <a:solidFill>
                  <a:srgbClr val="EF4444"/>
                </a:solidFill>
                <a:latin typeface="Segoe UI"/>
              </a:defRPr>
            </a:pPr>
            <a:r>
              <a:t>✗  Direktes Absenden von SQL-Text</a:t>
            </a:r>
          </a:p>
          <a:p>
            <a:pPr>
              <a:spcAft>
                <a:spcPts val="1400"/>
              </a:spcAft>
              <a:defRPr sz="1200">
                <a:solidFill>
                  <a:srgbClr val="E2E8F0"/>
                </a:solidFill>
                <a:latin typeface="Segoe UI"/>
              </a:defRPr>
            </a:pPr>
            <a:r>
              <a:t>Keine schützende Trennschicht zur Datenbank. Hohes Sicherheitsrisiko (SQL-Injection).</a:t>
            </a:r>
          </a:p>
          <a:p>
            <a:pPr>
              <a:spcAft>
                <a:spcPts val="400"/>
              </a:spcAft>
              <a:defRPr sz="1600" b="1">
                <a:solidFill>
                  <a:srgbClr val="EF4444"/>
                </a:solidFill>
                <a:latin typeface="Segoe UI"/>
              </a:defRPr>
            </a:pPr>
            <a:r>
              <a:t>✗  Fehlende Typen-Checks im System</a:t>
            </a:r>
          </a:p>
          <a:p>
            <a:pPr>
              <a:spcAft>
                <a:spcPts val="1400"/>
              </a:spcAft>
              <a:defRPr sz="1200">
                <a:solidFill>
                  <a:srgbClr val="E2E8F0"/>
                </a:solidFill>
                <a:latin typeface="Segoe UI"/>
              </a:defRPr>
            </a:pPr>
            <a:r>
              <a:t>Variablen können spontan ihren Typ ändern. Fehler fallen erst beim Kunden zur Laufzeit auf.</a:t>
            </a:r>
          </a:p>
        </p:txBody>
      </p:sp>
      <p:sp>
        <p:nvSpPr>
          <p:cNvPr id="8" name="Rounded Rectangle 7"/>
          <p:cNvSpPr/>
          <p:nvPr/>
        </p:nvSpPr>
        <p:spPr>
          <a:xfrm>
            <a:off x="6217920" y="1645920"/>
            <a:ext cx="5120640" cy="429768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754880" cy="3931920"/>
          </a:xfrm>
          <a:prstGeom prst="rect">
            <a:avLst/>
          </a:prstGeom>
          <a:noFill/>
        </p:spPr>
        <p:txBody>
          <a:bodyPr wrap="square">
            <a:spAutoFit/>
          </a:bodyPr>
          <a:lstStyle/>
          <a:p>
            <a:pPr>
              <a:spcAft>
                <a:spcPts val="2000"/>
              </a:spcAft>
              <a:defRPr sz="2000" b="1">
                <a:solidFill>
                  <a:srgbClr val="14B8A6"/>
                </a:solidFill>
                <a:latin typeface="Segoe UI"/>
              </a:defRPr>
            </a:pPr>
            <a:r>
              <a:t>Neu: Modernes C# (ASP.NET Core)</a:t>
            </a:r>
          </a:p>
          <a:p>
            <a:pPr>
              <a:spcAft>
                <a:spcPts val="400"/>
              </a:spcAft>
              <a:defRPr sz="1600" b="1">
                <a:solidFill>
                  <a:srgbClr val="14B8A6"/>
                </a:solidFill>
                <a:latin typeface="Segoe UI"/>
              </a:defRPr>
            </a:pPr>
            <a:r>
              <a:t>✔  Saubere 3-Schichten-Architektur</a:t>
            </a:r>
          </a:p>
          <a:p>
            <a:pPr>
              <a:spcAft>
                <a:spcPts val="1400"/>
              </a:spcAft>
              <a:defRPr sz="1200">
                <a:solidFill>
                  <a:srgbClr val="E2E8F0"/>
                </a:solidFill>
                <a:latin typeface="Segoe UI"/>
              </a:defRPr>
            </a:pPr>
            <a:r>
              <a:t>Controller für Routing, Services für Geschäftslogik, Repositories für DB-Zugriffe.</a:t>
            </a:r>
          </a:p>
          <a:p>
            <a:pPr>
              <a:spcAft>
                <a:spcPts val="400"/>
              </a:spcAft>
              <a:defRPr sz="1600" b="1">
                <a:solidFill>
                  <a:srgbClr val="14B8A6"/>
                </a:solidFill>
                <a:latin typeface="Segoe UI"/>
              </a:defRPr>
            </a:pPr>
            <a:r>
              <a:t>✔  Sicheres Entity Framework Core (ORM)</a:t>
            </a:r>
          </a:p>
          <a:p>
            <a:pPr>
              <a:spcAft>
                <a:spcPts val="1400"/>
              </a:spcAft>
              <a:defRPr sz="1200">
                <a:solidFill>
                  <a:srgbClr val="E2E8F0"/>
                </a:solidFill>
                <a:latin typeface="Segoe UI"/>
              </a:defRPr>
            </a:pPr>
            <a:r>
              <a:t>Sichere, objektorientierte Datenbankkommunikation ohne rohes SQL im Code.</a:t>
            </a:r>
          </a:p>
          <a:p>
            <a:pPr>
              <a:spcAft>
                <a:spcPts val="400"/>
              </a:spcAft>
              <a:defRPr sz="1600" b="1">
                <a:solidFill>
                  <a:srgbClr val="14B8A6"/>
                </a:solidFill>
                <a:latin typeface="Segoe UI"/>
              </a:defRPr>
            </a:pPr>
            <a:r>
              <a:t>✔  Strikte, compile-zeitgeprüfte Typisierung</a:t>
            </a:r>
          </a:p>
          <a:p>
            <a:pPr>
              <a:spcAft>
                <a:spcPts val="1400"/>
              </a:spcAft>
              <a:defRPr sz="1200">
                <a:solidFill>
                  <a:srgbClr val="E2E8F0"/>
                </a:solidFill>
                <a:latin typeface="Segoe UI"/>
              </a:defRPr>
            </a:pPr>
            <a:r>
              <a:t>Fehler werden sofort beim Kompilieren in Visual Studio / VS Code rot unterringelt.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lIns="0" tIns="0" rIns="0" bIns="0">
            <a:spAutoFit/>
          </a:bodyPr>
          <a:lstStyle/>
          <a:p>
            <a:pPr>
              <a:defRPr sz="3600" b="1">
                <a:solidFill>
                  <a:srgbClr val="14B8A6"/>
                </a:solidFill>
                <a:latin typeface="Segoe UI"/>
              </a:defRPr>
            </a:pPr>
            <a:r>
              <a:t>Fazit: Die Zukunft der Web-Entwicklung</a:t>
            </a:r>
          </a:p>
        </p:txBody>
      </p:sp>
      <p:sp>
        <p:nvSpPr>
          <p:cNvPr id="5" name="TextBox 4"/>
          <p:cNvSpPr txBox="1"/>
          <p:nvPr/>
        </p:nvSpPr>
        <p:spPr>
          <a:xfrm>
            <a:off x="10515600" y="6217920"/>
            <a:ext cx="914400" cy="365760"/>
          </a:xfrm>
          <a:prstGeom prst="rect">
            <a:avLst/>
          </a:prstGeom>
          <a:noFill/>
        </p:spPr>
        <p:txBody>
          <a:bodyPr wrap="square" lIns="0" tIns="0" rIns="0" bIns="0">
            <a:spAutoFit/>
          </a:bodyPr>
          <a:lstStyle/>
          <a:p>
            <a:pPr algn="r">
              <a:defRPr sz="1100">
                <a:solidFill>
                  <a:srgbClr val="94A3B8"/>
                </a:solidFill>
                <a:latin typeface="Segoe UI"/>
              </a:defRPr>
            </a:pPr>
            <a:r>
              <a:t>Folie 8 / 8</a:t>
            </a:r>
          </a:p>
        </p:txBody>
      </p:sp>
      <p:sp>
        <p:nvSpPr>
          <p:cNvPr id="6" name="Rounded Rectangle 5"/>
          <p:cNvSpPr/>
          <p:nvPr/>
        </p:nvSpPr>
        <p:spPr>
          <a:xfrm>
            <a:off x="731520" y="1645920"/>
            <a:ext cx="5120640" cy="2011680"/>
          </a:xfrm>
          <a:prstGeom prst="roundRect">
            <a:avLst/>
          </a:prstGeom>
          <a:solidFill>
            <a:srgbClr val="1E293B"/>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1828800"/>
          </a:xfrm>
          <a:prstGeom prst="rect">
            <a:avLst/>
          </a:prstGeom>
          <a:noFill/>
        </p:spPr>
        <p:txBody>
          <a:bodyPr wrap="square">
            <a:spAutoFit/>
          </a:bodyPr>
          <a:lstStyle/>
          <a:p>
            <a:pPr>
              <a:spcAft>
                <a:spcPts val="800"/>
              </a:spcAft>
              <a:defRPr sz="2000" b="1">
                <a:solidFill>
                  <a:srgbClr val="14B8A6"/>
                </a:solidFill>
                <a:latin typeface="Segoe UI"/>
              </a:defRPr>
            </a:pPr>
            <a:r>
              <a:t>1. Entwickler-Superkräfte</a:t>
            </a:r>
          </a:p>
          <a:p>
            <a:pPr>
              <a:defRPr sz="1300">
                <a:solidFill>
                  <a:srgbClr val="E2E8F0"/>
                </a:solidFill>
                <a:latin typeface="Segoe UI"/>
              </a:defRPr>
            </a:pPr>
            <a:r>
              <a:t>KI wird Entwickler nicht ersetzen, aber sie nimmt uns die stumpfe Fleißarbeit ab. Wir fokussieren uns auf die Architektur und die eigentliche Problemlösung.</a:t>
            </a:r>
          </a:p>
        </p:txBody>
      </p:sp>
      <p:sp>
        <p:nvSpPr>
          <p:cNvPr id="8" name="Rounded Rectangle 7"/>
          <p:cNvSpPr/>
          <p:nvPr/>
        </p:nvSpPr>
        <p:spPr>
          <a:xfrm>
            <a:off x="6217920" y="1645920"/>
            <a:ext cx="5120640" cy="2011680"/>
          </a:xfrm>
          <a:prstGeom prst="roundRect">
            <a:avLst/>
          </a:prstGeom>
          <a:solidFill>
            <a:srgbClr val="1E293B"/>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37360"/>
            <a:ext cx="4754880" cy="1828800"/>
          </a:xfrm>
          <a:prstGeom prst="rect">
            <a:avLst/>
          </a:prstGeom>
          <a:noFill/>
        </p:spPr>
        <p:txBody>
          <a:bodyPr wrap="square">
            <a:spAutoFit/>
          </a:bodyPr>
          <a:lstStyle/>
          <a:p>
            <a:pPr>
              <a:spcAft>
                <a:spcPts val="800"/>
              </a:spcAft>
              <a:defRPr sz="2000" b="1">
                <a:solidFill>
                  <a:srgbClr val="0EA5E9"/>
                </a:solidFill>
                <a:latin typeface="Segoe UI"/>
              </a:defRPr>
            </a:pPr>
            <a:r>
              <a:t>2. Prompts sind echter Code</a:t>
            </a:r>
          </a:p>
          <a:p>
            <a:pPr>
              <a:defRPr sz="1300">
                <a:solidFill>
                  <a:srgbClr val="E2E8F0"/>
                </a:solidFill>
                <a:latin typeface="Segoe UI"/>
              </a:defRPr>
            </a:pPr>
            <a:r>
              <a:t>Wie gut der generierte Code ist, entscheidet das Prompt-Engineering. Präzise Anweisungen und logische Ablaufsteuerungen sind der Schlüssel zum Erfolg.</a:t>
            </a:r>
          </a:p>
        </p:txBody>
      </p:sp>
      <p:sp>
        <p:nvSpPr>
          <p:cNvPr id="10" name="Rounded Rectangle 9"/>
          <p:cNvSpPr/>
          <p:nvPr/>
        </p:nvSpPr>
        <p:spPr>
          <a:xfrm>
            <a:off x="731520" y="3931920"/>
            <a:ext cx="5120640" cy="2011680"/>
          </a:xfrm>
          <a:prstGeom prst="roundRect">
            <a:avLst/>
          </a:prstGeom>
          <a:solidFill>
            <a:srgbClr val="1E293B"/>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23360"/>
            <a:ext cx="4754880" cy="1828800"/>
          </a:xfrm>
          <a:prstGeom prst="rect">
            <a:avLst/>
          </a:prstGeom>
          <a:noFill/>
        </p:spPr>
        <p:txBody>
          <a:bodyPr wrap="square">
            <a:spAutoFit/>
          </a:bodyPr>
          <a:lstStyle/>
          <a:p>
            <a:pPr>
              <a:spcAft>
                <a:spcPts val="800"/>
              </a:spcAft>
              <a:defRPr sz="2000" b="1">
                <a:solidFill>
                  <a:srgbClr val="14B8A6"/>
                </a:solidFill>
                <a:latin typeface="Segoe UI"/>
              </a:defRPr>
            </a:pPr>
            <a:r>
              <a:t>3. Validierung ist Pflicht</a:t>
            </a:r>
          </a:p>
          <a:p>
            <a:pPr>
              <a:defRPr sz="1300">
                <a:solidFill>
                  <a:srgbClr val="E2E8F0"/>
                </a:solidFill>
                <a:latin typeface="Segoe UI"/>
              </a:defRPr>
            </a:pPr>
            <a:r>
              <a:t>Man darf der KI niemals blind vertrauen. Nur durch automatische Kreuz-Validierung (Tests, die PHP und C# vergleichen) sichern wir die Qualität.</a:t>
            </a:r>
          </a:p>
        </p:txBody>
      </p:sp>
      <p:sp>
        <p:nvSpPr>
          <p:cNvPr id="12" name="Rounded Rectangle 11"/>
          <p:cNvSpPr/>
          <p:nvPr/>
        </p:nvSpPr>
        <p:spPr>
          <a:xfrm>
            <a:off x="6217920" y="3931920"/>
            <a:ext cx="5120640" cy="20116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023360"/>
            <a:ext cx="4754880" cy="1828800"/>
          </a:xfrm>
          <a:prstGeom prst="rect">
            <a:avLst/>
          </a:prstGeom>
          <a:noFill/>
        </p:spPr>
        <p:txBody>
          <a:bodyPr wrap="square">
            <a:spAutoFit/>
          </a:bodyPr>
          <a:lstStyle/>
          <a:p>
            <a:pPr>
              <a:spcAft>
                <a:spcPts val="1200"/>
              </a:spcAft>
              <a:defRPr sz="2400" b="1">
                <a:solidFill>
                  <a:srgbClr val="0F172A"/>
                </a:solidFill>
                <a:latin typeface="Segoe UI"/>
              </a:defRPr>
            </a:pPr>
            <a:r>
              <a:t>Fragen &amp; Diskussion</a:t>
            </a:r>
          </a:p>
          <a:p>
            <a:pPr>
              <a:defRPr sz="1400" b="1">
                <a:solidFill>
                  <a:srgbClr val="0F172A"/>
                </a:solidFill>
                <a:latin typeface="Segoe UI"/>
              </a:defRPr>
            </a:pPr>
            <a:r>
              <a:t>Vielen Dank für eure Aufmerksamkeit!</a:t>
            </a:r>
            <a:br/>
            <a:r>
              <a:t>Wir freuen uns auf eure Fragen und Feedback zu WebLegacy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